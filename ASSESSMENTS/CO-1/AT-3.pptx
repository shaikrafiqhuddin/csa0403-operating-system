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1F4576-5FBC-ED5E-2266-F4DC342BEAD9}" v="133" dt="2026-07-13T03:42:15.8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 CPU Usage (%)</c:v>
                </c:pt>
              </c:strCache>
            </c:strRef>
          </c:tx>
          <c:spPr>
            <a:ln w="31750" cap="flat">
              <a:solidFill>
                <a:srgbClr val="38BDF8"/>
              </a:solidFill>
              <a:prstDash val="solid"/>
              <a:round/>
            </a:ln>
            <a:effectLst/>
          </c:spPr>
          <c:marker>
            <c:symbol val="circle"/>
            <c:size val="5"/>
            <c:spPr>
              <a:solidFill>
                <a:srgbClr val="38BDF8"/>
              </a:solidFill>
              <a:ln w="9525" cap="flat">
                <a:solidFill>
                  <a:srgbClr val="38BDF8"/>
                </a:solidFill>
                <a:prstDash val="solid"/>
                <a:round/>
              </a:ln>
              <a:effectLst/>
            </c:spPr>
          </c:marker>
          <c:cat>
            <c:strRef>
              <c:f>Sheet1!$A$2:$A$9</c:f>
              <c:strCache>
                <c:ptCount val="8"/>
                <c:pt idx="0">
                  <c:v>T1</c:v>
                </c:pt>
                <c:pt idx="1">
                  <c:v>T2</c:v>
                </c:pt>
                <c:pt idx="2">
                  <c:v>T3</c:v>
                </c:pt>
                <c:pt idx="3">
                  <c:v>T4</c:v>
                </c:pt>
                <c:pt idx="4">
                  <c:v>T5</c:v>
                </c:pt>
                <c:pt idx="5">
                  <c:v>T6</c:v>
                </c:pt>
                <c:pt idx="6">
                  <c:v>T7</c:v>
                </c:pt>
                <c:pt idx="7">
                  <c:v>T8</c:v>
                </c:pt>
              </c:strCache>
            </c:strRef>
          </c:cat>
          <c:val>
            <c:numRef>
              <c:f>Sheet1!$B$2:$B$9</c:f>
              <c:numCache>
                <c:formatCode>General</c:formatCode>
                <c:ptCount val="8"/>
                <c:pt idx="0">
                  <c:v>32</c:v>
                </c:pt>
                <c:pt idx="1">
                  <c:v>41</c:v>
                </c:pt>
                <c:pt idx="2">
                  <c:v>38</c:v>
                </c:pt>
                <c:pt idx="3">
                  <c:v>55</c:v>
                </c:pt>
                <c:pt idx="4">
                  <c:v>62</c:v>
                </c:pt>
                <c:pt idx="5">
                  <c:v>58</c:v>
                </c:pt>
                <c:pt idx="6">
                  <c:v>47</c:v>
                </c:pt>
                <c:pt idx="7">
                  <c:v>44</c:v>
                </c:pt>
              </c:numCache>
            </c:numRef>
          </c:val>
          <c:smooth val="0"/>
          <c:extLst>
            <c:ext xmlns:c16="http://schemas.microsoft.com/office/drawing/2014/chart" uri="{C3380CC4-5D6E-409C-BE32-E72D297353CC}">
              <c16:uniqueId val="{00000000-08C6-461D-8D74-09684559D48E}"/>
            </c:ext>
          </c:extLst>
        </c:ser>
        <c:ser>
          <c:idx val="1"/>
          <c:order val="1"/>
          <c:tx>
            <c:strRef>
              <c:f>Sheet1!$C$1</c:f>
              <c:strCache>
                <c:ptCount val="1"/>
                <c:pt idx="0">
                  <c:v>Predicted CPU Usage (%)</c:v>
                </c:pt>
              </c:strCache>
            </c:strRef>
          </c:tx>
          <c:spPr>
            <a:ln w="31750" cap="flat">
              <a:solidFill>
                <a:srgbClr val="FACC15"/>
              </a:solidFill>
              <a:prstDash val="solid"/>
              <a:round/>
            </a:ln>
            <a:effectLst/>
          </c:spPr>
          <c:marker>
            <c:symbol val="circle"/>
            <c:size val="5"/>
            <c:spPr>
              <a:solidFill>
                <a:srgbClr val="FACC15"/>
              </a:solidFill>
              <a:ln w="9525" cap="flat">
                <a:solidFill>
                  <a:srgbClr val="FACC15"/>
                </a:solidFill>
                <a:prstDash val="solid"/>
                <a:round/>
              </a:ln>
              <a:effectLst/>
            </c:spPr>
          </c:marker>
          <c:cat>
            <c:strRef>
              <c:f>Sheet1!$A$2:$A$9</c:f>
              <c:strCache>
                <c:ptCount val="8"/>
                <c:pt idx="0">
                  <c:v>T1</c:v>
                </c:pt>
                <c:pt idx="1">
                  <c:v>T2</c:v>
                </c:pt>
                <c:pt idx="2">
                  <c:v>T3</c:v>
                </c:pt>
                <c:pt idx="3">
                  <c:v>T4</c:v>
                </c:pt>
                <c:pt idx="4">
                  <c:v>T5</c:v>
                </c:pt>
                <c:pt idx="5">
                  <c:v>T6</c:v>
                </c:pt>
                <c:pt idx="6">
                  <c:v>T7</c:v>
                </c:pt>
                <c:pt idx="7">
                  <c:v>T8</c:v>
                </c:pt>
              </c:strCache>
            </c:strRef>
          </c:cat>
          <c:val>
            <c:numRef>
              <c:f>Sheet1!$C$2:$C$9</c:f>
              <c:numCache>
                <c:formatCode>General</c:formatCode>
                <c:ptCount val="8"/>
                <c:pt idx="0">
                  <c:v>30</c:v>
                </c:pt>
                <c:pt idx="1">
                  <c:v>40</c:v>
                </c:pt>
                <c:pt idx="2">
                  <c:v>42</c:v>
                </c:pt>
                <c:pt idx="3">
                  <c:v>50</c:v>
                </c:pt>
                <c:pt idx="4">
                  <c:v>60</c:v>
                </c:pt>
                <c:pt idx="5">
                  <c:v>61</c:v>
                </c:pt>
                <c:pt idx="6">
                  <c:v>50</c:v>
                </c:pt>
                <c:pt idx="7">
                  <c:v>45</c:v>
                </c:pt>
              </c:numCache>
            </c:numRef>
          </c:val>
          <c:smooth val="0"/>
          <c:extLst>
            <c:ext xmlns:c16="http://schemas.microsoft.com/office/drawing/2014/chart" uri="{C3380CC4-5D6E-409C-BE32-E72D297353CC}">
              <c16:uniqueId val="{00000001-08C6-461D-8D74-09684559D48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4A3B8"/>
                </a:solidFill>
                <a:latin typeface="Arial"/>
              </a:defRPr>
            </a:pPr>
            <a:endParaRPr lang="en-US"/>
          </a:p>
        </c:txPr>
        <c:crossAx val="2094734554"/>
        <c:crosses val="autoZero"/>
        <c:crossBetween val="between"/>
      </c:valAx>
      <c:spPr>
        <a:solidFill>
          <a:srgbClr val="1E293B"/>
        </a:solidFill>
        <a:ln>
          <a:noFill/>
        </a:ln>
        <a:effectLst/>
      </c:spPr>
    </c:plotArea>
    <c:legend>
      <c:legendPos val="b"/>
      <c:overlay val="0"/>
      <c:txPr>
        <a:bodyPr/>
        <a:lstStyle/>
        <a:p>
          <a:pPr>
            <a:defRPr sz="1000">
              <a:solidFill>
                <a:srgbClr val="94A3B8"/>
              </a:solidFill>
            </a:defRPr>
          </a:pPr>
          <a:endParaRPr lang="en-US"/>
        </a:p>
      </c:txPr>
    </c:legend>
    <c:plotVisOnly val="1"/>
    <c:dispBlanksAs val="span"/>
    <c:showDLblsOverMax val="1"/>
  </c:chart>
  <c:spPr>
    <a:solidFill>
      <a:srgbClr val="1E293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844DD76-4BC8-4252-B36C-A55438766FA4}" type="datetimeFigureOut">
              <a:t>7/12/2026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34365CB-F121-4A4D-A5A5-D6DAD91353AB}" type="slidenum">
              <a:t>‹#›</a:t>
            </a:fld>
            <a:endParaRPr lang="en-US"/>
          </a:p>
        </p:txBody>
      </p:sp>
    </p:spTree>
    <p:extLst>
      <p:ext uri="{BB962C8B-B14F-4D97-AF65-F5344CB8AC3E}">
        <p14:creationId xmlns:p14="http://schemas.microsoft.com/office/powerpoint/2010/main" val="2674612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presenting my Operating Systems capstone project: an AI-powered OS resource monitoring and management system. Although it uses AI, the core of this project is Operating Systems — how the kernel manages CPU, memory, disk, and processes, and how we observe that behavior in real time through a web dashboard. Let's begin.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We'll start with OS foundations and the problem we're solving, walk through the objectives and how our proposed system compares to existing tools, then go deep into the OS concepts this project actually applies — scheduling, memory management, file systems, and process control — before covering the architecture, the AI enhancement layer, the tech stack, and finally results and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operating system sits between applications and hardware, managing every resource a program uses. The four core OS functions — process, memory, file, and device management — are exactly what our monitoring platform observes. Every number our dashboard shows, whether it's CPU usage or memory consumption, is a direct reflection of decisions the OS kernel is making in real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OS utilities like Task Manager or top show live snapshots, but they don't predict, don't store history for trend analysis, and don't warn administrators before a resource crisis happens. Our problem statement is simple: OS resource data is rich, but underused. This project builds a system that continuously captures that OS-level data and makes it proactive rather than reactive.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anchor the project. Notice that four of the six are purely OS-focused — real-time monitoring, applying scheduling and memory concepts, historical storage, and dashboard delivery. AI appears in only one objective, as an enhancement layer for prediction and anomaly detection, which reflects the intended 70-30 balance of the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lines up the standard OS utilities everyone already knows against our proposed system. The underlying OS data source is identical in both cases — we're not replacing the kernel's information, we're extending what's done with it: persistence, trend visibility, prediction, and automated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in this project traces directly to a named OS concept. CPU monitoring maps to scheduling, process execution, and context switching. Memory monitoring maps to allocation, virtual memory, and paging. Disk monitoring connects to the file system and disk scheduling. This slide is the strongest evidence that the project is fundamentally an Operating Systems project.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resource categories the platform tracks. Each card pairs the raw metric we collect with the specific OS concept that explains it — for example, the process card isn't just a list of names, it reflects each process's Process Control Block and its current scheduling state. This is where OS theory becomes directly observable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layered from the kernel upward. The OS Interface Layer, highlighted here, is the heart of the system — it uses psutil to read live resource data directly from the operating system. Everything above it, including the AI analytics layer, only ever processes data that originates from this OS layer.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pipeline is intentionally simple: collect OS data, engineer features, build a historical dataset, then run prediction and anomaly detection with scikit-learn, ending in a recommendation engine. There's no deep mathematical theory on this slide by design — AI is presented as a compact enhancement layer, consistent with its 30 percent role in this OS-focused project.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request-to-insight pipeline. It begins and ends with the operating system: the kernel generates resource state, psutil collects it, FastAPI moves it through the system, the database preserves history, the AI engine adds prediction, and the dashboard closes the loop by presenting actionable information back to the administrator.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lean. psutil is the critical OS-interface library — it's how Python reads kernel-level resource data. FastAPI serves that data, scikit-learn adds the lightweight AI layer, and SQLite or Supabase persist history. The frontend uses plain HTML, CSS, JavaScript, and Chart.js to keep the dashboard fast and dependency-light.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reserves placeholders for live dashboard screenshots — the home view, and dedicated panels for CPU, RAM, Disk, Network, running processes, AI predictions, and alerts. During the actual defense, each placeholder will be replaced with a real screenshot of the working system.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illustrative of the kind of prediction-versus-actual comparison the AI layer produces — during testing, predicted CPU usage tracked closely with actual usage. The real benefit, though, is on the right: this system gives administrators OS-level visibility, historical trend data, and early warnings that standard tools like Task Manager simply don't provide.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its current form, this system is well suited to labs, small servers, and as a teaching tool for OS concepts. Looking ahead, the natural extensions are multi-node monitoring across a cluster, stronger prediction models, moving from recommendations to automated remediation, and packaging the whole system in containers for easy deployment.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is fundamentally about Operating Systems — process scheduling, memory management, file systems, and device management — observed and explained through a real-time monitoring platform. AI plays a supporting role, adding prediction and anomaly detection without overshadowing the OS foundation. Thank you,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2563EB">
              <a:alpha val="18000"/>
            </a:srgbClr>
          </a:solidFill>
          <a:ln/>
        </p:spPr>
      </p:sp>
      <p:sp>
        <p:nvSpPr>
          <p:cNvPr id="3" name="Shape 1"/>
          <p:cNvSpPr/>
          <p:nvPr/>
        </p:nvSpPr>
        <p:spPr>
          <a:xfrm>
            <a:off x="10058400" y="4206240"/>
            <a:ext cx="3291840" cy="3291840"/>
          </a:xfrm>
          <a:prstGeom prst="ellipse">
            <a:avLst/>
          </a:prstGeom>
          <a:solidFill>
            <a:srgbClr val="38BDF8">
              <a:alpha val="15000"/>
            </a:srgbClr>
          </a:solidFill>
          <a:ln/>
        </p:spPr>
      </p:sp>
      <p:sp>
        <p:nvSpPr>
          <p:cNvPr id="4" name="Text 2"/>
          <p:cNvSpPr/>
          <p:nvPr/>
        </p:nvSpPr>
        <p:spPr>
          <a:xfrm>
            <a:off x="822960" y="1371600"/>
            <a:ext cx="8229600" cy="365760"/>
          </a:xfrm>
          <a:prstGeom prst="rect">
            <a:avLst/>
          </a:prstGeom>
          <a:noFill/>
          <a:ln/>
        </p:spPr>
        <p:txBody>
          <a:bodyPr wrap="square" rtlCol="0" anchor="ctr"/>
          <a:lstStyle/>
          <a:p>
            <a:pPr marL="0" indent="0">
              <a:buNone/>
            </a:pPr>
            <a:r>
              <a:rPr lang="en-US" sz="1300" b="1" kern="0" spc="200" dirty="0">
                <a:solidFill>
                  <a:srgbClr val="38BDF8"/>
                </a:solidFill>
                <a:latin typeface="Calibri" pitchFamily="34" charset="0"/>
                <a:ea typeface="Calibri" pitchFamily="34" charset="-122"/>
                <a:cs typeface="Calibri" pitchFamily="34" charset="-120"/>
              </a:rPr>
              <a:t>OPERATING SYSTEMS CAPSTONE PROJECT</a:t>
            </a:r>
            <a:endParaRPr lang="en-US" sz="1300" dirty="0"/>
          </a:p>
        </p:txBody>
      </p:sp>
      <p:sp>
        <p:nvSpPr>
          <p:cNvPr id="5" name="Text 3"/>
          <p:cNvSpPr/>
          <p:nvPr/>
        </p:nvSpPr>
        <p:spPr>
          <a:xfrm>
            <a:off x="822960" y="1828800"/>
            <a:ext cx="8778240" cy="1828800"/>
          </a:xfrm>
          <a:prstGeom prst="rect">
            <a:avLst/>
          </a:prstGeom>
          <a:noFill/>
          <a:ln/>
        </p:spPr>
        <p:txBody>
          <a:bodyPr wrap="square" lIns="0" tIns="0" rIns="0" bIns="0" rtlCol="0" anchor="ctr"/>
          <a:lstStyle/>
          <a:p>
            <a:pPr marL="0" indent="0">
              <a:lnSpc>
                <a:spcPct val="108000"/>
              </a:lnSpc>
              <a:buNone/>
            </a:pPr>
            <a:r>
              <a:rPr lang="en-US" sz="3800" b="1" dirty="0">
                <a:solidFill>
                  <a:srgbClr val="F8FAFC"/>
                </a:solidFill>
                <a:latin typeface="Poppins" pitchFamily="34" charset="0"/>
                <a:ea typeface="Poppins" pitchFamily="34" charset="-122"/>
                <a:cs typeface="Poppins" pitchFamily="34" charset="-120"/>
              </a:rPr>
              <a:t>AI-Powered Operating System</a:t>
            </a:r>
            <a:endParaRPr lang="en-US" sz="3800" dirty="0"/>
          </a:p>
          <a:p>
            <a:pPr marL="0" indent="0">
              <a:lnSpc>
                <a:spcPct val="108000"/>
              </a:lnSpc>
              <a:buNone/>
            </a:pPr>
            <a:r>
              <a:rPr lang="en-US" sz="3800" b="1" dirty="0">
                <a:solidFill>
                  <a:srgbClr val="F8FAFC"/>
                </a:solidFill>
                <a:latin typeface="Poppins" pitchFamily="34" charset="0"/>
                <a:ea typeface="Poppins" pitchFamily="34" charset="-122"/>
                <a:cs typeface="Poppins" pitchFamily="34" charset="-120"/>
              </a:rPr>
              <a:t>Resource Monitoring and Management System</a:t>
            </a:r>
            <a:endParaRPr lang="en-US" sz="3800" dirty="0"/>
          </a:p>
        </p:txBody>
      </p:sp>
      <p:sp>
        <p:nvSpPr>
          <p:cNvPr id="6" name="Text 4"/>
          <p:cNvSpPr/>
          <p:nvPr/>
        </p:nvSpPr>
        <p:spPr>
          <a:xfrm>
            <a:off x="822960" y="3703320"/>
            <a:ext cx="8046720" cy="548640"/>
          </a:xfrm>
          <a:prstGeom prst="rect">
            <a:avLst/>
          </a:prstGeom>
          <a:noFill/>
          <a:ln/>
        </p:spPr>
        <p:txBody>
          <a:bodyPr wrap="square" rtlCol="0" anchor="ctr"/>
          <a:lstStyle/>
          <a:p>
            <a:pPr marL="0" indent="0">
              <a:buNone/>
            </a:pPr>
            <a:r>
              <a:rPr lang="en-US" sz="1500" i="1" dirty="0">
                <a:solidFill>
                  <a:srgbClr val="94A3B8"/>
                </a:solidFill>
                <a:latin typeface="Calibri" pitchFamily="34" charset="0"/>
                <a:ea typeface="Calibri" pitchFamily="34" charset="-122"/>
                <a:cs typeface="Calibri" pitchFamily="34" charset="-120"/>
              </a:rPr>
              <a:t>A real-time OS resource monitoring platform enhanced with AI-based prediction and anomaly detection</a:t>
            </a:r>
            <a:endParaRPr lang="en-US" sz="1500" dirty="0"/>
          </a:p>
        </p:txBody>
      </p:sp>
      <p:sp>
        <p:nvSpPr>
          <p:cNvPr id="7" name="Shape 5"/>
          <p:cNvSpPr/>
          <p:nvPr/>
        </p:nvSpPr>
        <p:spPr>
          <a:xfrm>
            <a:off x="822960" y="4709160"/>
            <a:ext cx="2554086" cy="1234440"/>
          </a:xfrm>
          <a:prstGeom prst="roundRect">
            <a:avLst>
              <a:gd name="adj" fmla="val 7407"/>
            </a:avLst>
          </a:prstGeom>
          <a:solidFill>
            <a:srgbClr val="1E293B"/>
          </a:solidFill>
          <a:ln w="12700">
            <a:solidFill>
              <a:srgbClr val="334155"/>
            </a:solidFill>
            <a:prstDash val="solid"/>
          </a:ln>
        </p:spPr>
      </p:sp>
      <p:sp>
        <p:nvSpPr>
          <p:cNvPr id="8" name="Text 6"/>
          <p:cNvSpPr/>
          <p:nvPr/>
        </p:nvSpPr>
        <p:spPr>
          <a:xfrm>
            <a:off x="1051560" y="4864608"/>
            <a:ext cx="5577840" cy="1202574"/>
          </a:xfrm>
          <a:prstGeom prst="rect">
            <a:avLst/>
          </a:prstGeom>
          <a:noFill/>
          <a:ln/>
        </p:spPr>
        <p:txBody>
          <a:bodyPr wrap="square" lIns="0" tIns="0" rIns="0" bIns="0" rtlCol="0" anchor="ctr"/>
          <a:lstStyle/>
          <a:p>
            <a:pPr marL="0" indent="0">
              <a:lnSpc>
                <a:spcPct val="125000"/>
              </a:lnSpc>
              <a:buNone/>
            </a:pPr>
            <a:r>
              <a:rPr lang="en-US" sz="1250" b="1">
                <a:solidFill>
                  <a:srgbClr val="38BDF8"/>
                </a:solidFill>
                <a:latin typeface="Calibri"/>
                <a:ea typeface="Calibri"/>
                <a:cs typeface="Calibri"/>
              </a:rPr>
              <a:t>Presented by: </a:t>
            </a:r>
            <a:endParaRPr lang="en-US" sz="1250">
              <a:solidFill>
                <a:srgbClr val="F8FAFC"/>
              </a:solidFill>
              <a:latin typeface="Calibri"/>
              <a:ea typeface="Calibri"/>
              <a:cs typeface="Calibri"/>
            </a:endParaRPr>
          </a:p>
          <a:p>
            <a:pPr>
              <a:lnSpc>
                <a:spcPct val="125000"/>
              </a:lnSpc>
            </a:pPr>
            <a:r>
              <a:rPr lang="en-US" sz="1250" b="1" dirty="0" err="1">
                <a:solidFill>
                  <a:srgbClr val="38BDF8"/>
                </a:solidFill>
                <a:ea typeface="Calibri"/>
                <a:cs typeface="Calibri"/>
              </a:rPr>
              <a:t>Shaik.Rafiqhuddin</a:t>
            </a:r>
            <a:r>
              <a:rPr lang="en-US" sz="1250" b="1" dirty="0">
                <a:solidFill>
                  <a:srgbClr val="38BDF8"/>
                </a:solidFill>
                <a:ea typeface="Calibri"/>
                <a:cs typeface="Calibri"/>
              </a:rPr>
              <a:t> – 192525129</a:t>
            </a:r>
          </a:p>
          <a:p>
            <a:pPr>
              <a:lnSpc>
                <a:spcPct val="125000"/>
              </a:lnSpc>
            </a:pPr>
            <a:r>
              <a:rPr lang="en-US" sz="1250" b="1" dirty="0" err="1">
                <a:solidFill>
                  <a:srgbClr val="38BDF8"/>
                </a:solidFill>
                <a:ea typeface="Calibri"/>
                <a:cs typeface="Calibri"/>
              </a:rPr>
              <a:t>P.Kalyan</a:t>
            </a:r>
            <a:r>
              <a:rPr lang="en-US" sz="1250" b="1" dirty="0">
                <a:solidFill>
                  <a:srgbClr val="38BDF8"/>
                </a:solidFill>
                <a:ea typeface="Calibri"/>
                <a:cs typeface="Calibri"/>
              </a:rPr>
              <a:t> –192525212</a:t>
            </a:r>
          </a:p>
          <a:p>
            <a:pPr>
              <a:lnSpc>
                <a:spcPct val="125000"/>
              </a:lnSpc>
            </a:pPr>
            <a:r>
              <a:rPr lang="en-US" sz="1250" b="1" dirty="0" err="1">
                <a:solidFill>
                  <a:srgbClr val="38BDF8"/>
                </a:solidFill>
                <a:ea typeface="Calibri"/>
                <a:cs typeface="Calibri"/>
              </a:rPr>
              <a:t>M.Manikanta</a:t>
            </a:r>
            <a:r>
              <a:rPr lang="en-US" sz="1250" b="1" dirty="0">
                <a:solidFill>
                  <a:srgbClr val="38BDF8"/>
                </a:solidFill>
                <a:ea typeface="Calibri"/>
                <a:cs typeface="Calibri"/>
              </a:rPr>
              <a:t> – 192525341</a:t>
            </a:r>
          </a:p>
          <a:p>
            <a:pPr>
              <a:lnSpc>
                <a:spcPct val="125000"/>
              </a:lnSpc>
            </a:pPr>
            <a:r>
              <a:rPr lang="en-US" sz="1250" b="1" dirty="0" err="1">
                <a:solidFill>
                  <a:srgbClr val="38BDF8"/>
                </a:solidFill>
                <a:ea typeface="Calibri"/>
                <a:cs typeface="Calibri"/>
              </a:rPr>
              <a:t>G.Puneeth</a:t>
            </a:r>
            <a:r>
              <a:rPr lang="en-US" sz="1250" b="1" dirty="0">
                <a:solidFill>
                  <a:srgbClr val="38BDF8"/>
                </a:solidFill>
                <a:ea typeface="Calibri"/>
                <a:cs typeface="Calibri"/>
              </a:rPr>
              <a:t> - 192524221</a:t>
            </a:r>
          </a:p>
          <a:p>
            <a:pPr>
              <a:lnSpc>
                <a:spcPct val="125000"/>
              </a:lnSpc>
            </a:pPr>
            <a:endParaRPr lang="en-US" sz="1250" dirty="0">
              <a:ea typeface="Calibri" panose="020F0502020204030204"/>
              <a:cs typeface="Calibri" panose="020F0502020204030204"/>
            </a:endParaRPr>
          </a:p>
        </p:txBody>
      </p:sp>
      <p:sp>
        <p:nvSpPr>
          <p:cNvPr id="9" name="Shape 7"/>
          <p:cNvSpPr/>
          <p:nvPr/>
        </p:nvSpPr>
        <p:spPr>
          <a:xfrm>
            <a:off x="9692640" y="2468880"/>
            <a:ext cx="1554480" cy="1554480"/>
          </a:xfrm>
          <a:prstGeom prst="ellipse">
            <a:avLst/>
          </a:prstGeom>
          <a:solidFill>
            <a:srgbClr val="2563EB"/>
          </a:solidFill>
          <a:ln/>
        </p:spPr>
      </p:sp>
      <p:sp>
        <p:nvSpPr>
          <p:cNvPr id="10" name="Text 8"/>
          <p:cNvSpPr/>
          <p:nvPr/>
        </p:nvSpPr>
        <p:spPr>
          <a:xfrm>
            <a:off x="9692640" y="2468880"/>
            <a:ext cx="1554480" cy="1554480"/>
          </a:xfrm>
          <a:prstGeom prst="rect">
            <a:avLst/>
          </a:prstGeom>
          <a:noFill/>
          <a:ln/>
        </p:spPr>
        <p:txBody>
          <a:bodyPr wrap="square" lIns="0" tIns="0" rIns="0" bIns="0" rtlCol="0" anchor="ctr"/>
          <a:lstStyle/>
          <a:p>
            <a:pPr marL="0" indent="0" algn="ctr">
              <a:buNone/>
            </a:pPr>
            <a:r>
              <a:rPr lang="en-US" sz="2600" b="1" dirty="0">
                <a:solidFill>
                  <a:srgbClr val="F8FAFC"/>
                </a:solidFill>
                <a:latin typeface="Calibri" pitchFamily="34" charset="0"/>
                <a:ea typeface="Calibri" pitchFamily="34" charset="-122"/>
                <a:cs typeface="Calibri" pitchFamily="34" charset="-120"/>
              </a:rPr>
              <a:t>OS</a:t>
            </a:r>
            <a:endParaRPr lang="en-US" sz="2600" dirty="0"/>
          </a:p>
        </p:txBody>
      </p:sp>
      <p:sp>
        <p:nvSpPr>
          <p:cNvPr id="11" name="Shape 9"/>
          <p:cNvSpPr/>
          <p:nvPr/>
        </p:nvSpPr>
        <p:spPr>
          <a:xfrm>
            <a:off x="10561320" y="1417320"/>
            <a:ext cx="777240" cy="777240"/>
          </a:xfrm>
          <a:prstGeom prst="ellipse">
            <a:avLst/>
          </a:prstGeom>
          <a:solidFill>
            <a:srgbClr val="38BDF8"/>
          </a:solidFill>
          <a:ln/>
        </p:spPr>
      </p:sp>
      <p:sp>
        <p:nvSpPr>
          <p:cNvPr id="12" name="Text 10"/>
          <p:cNvSpPr/>
          <p:nvPr/>
        </p:nvSpPr>
        <p:spPr>
          <a:xfrm>
            <a:off x="10561320" y="1417320"/>
            <a:ext cx="777240" cy="777240"/>
          </a:xfrm>
          <a:prstGeom prst="rect">
            <a:avLst/>
          </a:prstGeom>
          <a:noFill/>
          <a:ln/>
        </p:spPr>
        <p:txBody>
          <a:bodyPr wrap="square" lIns="0" tIns="0" rIns="0" bIns="0"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AI</a:t>
            </a:r>
            <a:endParaRPr lang="en-US" sz="1500" dirty="0"/>
          </a:p>
        </p:txBody>
      </p:sp>
      <p:sp>
        <p:nvSpPr>
          <p:cNvPr id="13" name="Text 11"/>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14" name="Text 12"/>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01 / 16</a:t>
            </a:r>
            <a:endParaRPr lang="en-US" sz="900" dirty="0"/>
          </a:p>
        </p:txBody>
      </p:sp>
      <p:sp>
        <p:nvSpPr>
          <p:cNvPr id="16" name="Shape 5">
            <a:extLst>
              <a:ext uri="{FF2B5EF4-FFF2-40B4-BE49-F238E27FC236}">
                <a16:creationId xmlns:a16="http://schemas.microsoft.com/office/drawing/2014/main" id="{7FB7D300-99C0-17BB-A788-FE4B492A4A84}"/>
              </a:ext>
            </a:extLst>
          </p:cNvPr>
          <p:cNvSpPr/>
          <p:nvPr/>
        </p:nvSpPr>
        <p:spPr>
          <a:xfrm>
            <a:off x="5354551" y="4709160"/>
            <a:ext cx="2554086" cy="1234440"/>
          </a:xfrm>
          <a:prstGeom prst="roundRect">
            <a:avLst>
              <a:gd name="adj" fmla="val 7407"/>
            </a:avLst>
          </a:prstGeom>
          <a:solidFill>
            <a:srgbClr val="1E293B"/>
          </a:solidFill>
          <a:ln w="12700">
            <a:solidFill>
              <a:srgbClr val="334155"/>
            </a:solidFill>
            <a:prstDash val="solid"/>
          </a:ln>
        </p:spPr>
      </p:sp>
      <p:sp>
        <p:nvSpPr>
          <p:cNvPr id="17" name="TextBox 16">
            <a:extLst>
              <a:ext uri="{FF2B5EF4-FFF2-40B4-BE49-F238E27FC236}">
                <a16:creationId xmlns:a16="http://schemas.microsoft.com/office/drawing/2014/main" id="{516F19E8-B9CA-1C3B-0D72-E442530CCE8D}"/>
              </a:ext>
            </a:extLst>
          </p:cNvPr>
          <p:cNvSpPr txBox="1"/>
          <p:nvPr/>
        </p:nvSpPr>
        <p:spPr>
          <a:xfrm>
            <a:off x="5357091" y="4710545"/>
            <a:ext cx="3059547"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50" b="1">
                <a:solidFill>
                  <a:srgbClr val="38BDF8"/>
                </a:solidFill>
                <a:latin typeface="Calibri"/>
                <a:ea typeface="Segoe UI"/>
                <a:cs typeface="Segoe UI"/>
              </a:rPr>
              <a:t>Guided By </a:t>
            </a:r>
            <a:r>
              <a:rPr lang="en-US" sz="1250" b="1" i="0" u="none" strike="noStrike" baseline="0">
                <a:solidFill>
                  <a:srgbClr val="38BDF8"/>
                </a:solidFill>
                <a:latin typeface="Calibri"/>
                <a:ea typeface="Segoe UI"/>
                <a:cs typeface="Segoe UI"/>
              </a:rPr>
              <a:t>:</a:t>
            </a:r>
            <a:endParaRPr lang="en-US"/>
          </a:p>
          <a:p>
            <a:endParaRPr lang="en-US" sz="1250" b="1" dirty="0">
              <a:solidFill>
                <a:srgbClr val="38BDF8"/>
              </a:solidFill>
              <a:latin typeface="Calibri"/>
              <a:ea typeface="Segoe UI"/>
              <a:cs typeface="Segoe UI"/>
            </a:endParaRPr>
          </a:p>
          <a:p>
            <a:r>
              <a:rPr lang="en-US" sz="1250" b="1" dirty="0" err="1">
                <a:solidFill>
                  <a:srgbClr val="38BDF8"/>
                </a:solidFill>
                <a:latin typeface="Calibri"/>
                <a:ea typeface="Segoe UI"/>
                <a:cs typeface="Segoe UI"/>
              </a:rPr>
              <a:t>Dr.G.Charlyn</a:t>
            </a:r>
            <a:r>
              <a:rPr lang="en-US" sz="1250" b="1" dirty="0">
                <a:solidFill>
                  <a:srgbClr val="38BDF8"/>
                </a:solidFill>
                <a:latin typeface="Calibri"/>
                <a:ea typeface="Segoe UI"/>
                <a:cs typeface="Segoe UI"/>
              </a:rPr>
              <a:t> Pushpa Latha </a:t>
            </a:r>
            <a:r>
              <a:rPr lang="en-US" sz="1250" b="0" i="0" dirty="0">
                <a:solidFill>
                  <a:srgbClr val="000000"/>
                </a:solidFill>
                <a:latin typeface="Calibri"/>
                <a:ea typeface="Segoe UI"/>
                <a:cs typeface="Segoe UI"/>
              </a:rPr>
              <a:t>​</a:t>
            </a:r>
            <a:endParaRPr lang="en-US">
              <a:ea typeface="Calibri"/>
              <a:cs typeface="Calibri"/>
            </a:endParaRPr>
          </a:p>
          <a:p>
            <a:pPr algn="l" rtl="0"/>
            <a:r>
              <a:rPr lang="en-US" sz="1250" b="0" i="0">
                <a:solidFill>
                  <a:srgbClr val="000000"/>
                </a:solidFill>
                <a:latin typeface="Calibri"/>
                <a:ea typeface="Segoe UI"/>
                <a:cs typeface="Segoe UI"/>
              </a:rPr>
              <a:t>​</a:t>
            </a:r>
          </a:p>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What We'll Cover Today</a:t>
            </a:r>
            <a:endParaRPr lang="en-US" sz="3000" dirty="0"/>
          </a:p>
        </p:txBody>
      </p:sp>
      <p:sp>
        <p:nvSpPr>
          <p:cNvPr id="4" name="Shape 2"/>
          <p:cNvSpPr/>
          <p:nvPr/>
        </p:nvSpPr>
        <p:spPr>
          <a:xfrm>
            <a:off x="548640" y="1645920"/>
            <a:ext cx="5212080" cy="868680"/>
          </a:xfrm>
          <a:prstGeom prst="roundRect">
            <a:avLst>
              <a:gd name="adj" fmla="val 10526"/>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5" name="Shape 3"/>
          <p:cNvSpPr/>
          <p:nvPr/>
        </p:nvSpPr>
        <p:spPr>
          <a:xfrm>
            <a:off x="749808" y="1847088"/>
            <a:ext cx="457200" cy="457200"/>
          </a:xfrm>
          <a:prstGeom prst="ellipse">
            <a:avLst/>
          </a:prstGeom>
          <a:solidFill>
            <a:srgbClr val="2563EB"/>
          </a:solidFill>
          <a:ln/>
        </p:spPr>
      </p:sp>
      <p:sp>
        <p:nvSpPr>
          <p:cNvPr id="6" name="Text 4"/>
          <p:cNvSpPr/>
          <p:nvPr/>
        </p:nvSpPr>
        <p:spPr>
          <a:xfrm>
            <a:off x="749808" y="1847088"/>
            <a:ext cx="457200" cy="45720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371600" y="1645920"/>
            <a:ext cx="4206240" cy="86868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Introduction &amp; Problem Statement</a:t>
            </a:r>
            <a:endParaRPr lang="en-US" sz="1400" dirty="0"/>
          </a:p>
        </p:txBody>
      </p:sp>
      <p:sp>
        <p:nvSpPr>
          <p:cNvPr id="8" name="Shape 6"/>
          <p:cNvSpPr/>
          <p:nvPr/>
        </p:nvSpPr>
        <p:spPr>
          <a:xfrm>
            <a:off x="548640" y="2697480"/>
            <a:ext cx="5212080" cy="868680"/>
          </a:xfrm>
          <a:prstGeom prst="roundRect">
            <a:avLst>
              <a:gd name="adj" fmla="val 10526"/>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9" name="Shape 7"/>
          <p:cNvSpPr/>
          <p:nvPr/>
        </p:nvSpPr>
        <p:spPr>
          <a:xfrm>
            <a:off x="749808" y="2898648"/>
            <a:ext cx="457200" cy="457200"/>
          </a:xfrm>
          <a:prstGeom prst="ellipse">
            <a:avLst/>
          </a:prstGeom>
          <a:solidFill>
            <a:srgbClr val="2563EB"/>
          </a:solidFill>
          <a:ln/>
        </p:spPr>
      </p:sp>
      <p:sp>
        <p:nvSpPr>
          <p:cNvPr id="10" name="Text 8"/>
          <p:cNvSpPr/>
          <p:nvPr/>
        </p:nvSpPr>
        <p:spPr>
          <a:xfrm>
            <a:off x="749808" y="2898648"/>
            <a:ext cx="457200" cy="45720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1371600" y="2697480"/>
            <a:ext cx="4206240" cy="86868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Objectives &amp; Existing vs Proposed System</a:t>
            </a:r>
            <a:endParaRPr lang="en-US" sz="1400" dirty="0"/>
          </a:p>
        </p:txBody>
      </p:sp>
      <p:sp>
        <p:nvSpPr>
          <p:cNvPr id="12" name="Shape 10"/>
          <p:cNvSpPr/>
          <p:nvPr/>
        </p:nvSpPr>
        <p:spPr>
          <a:xfrm>
            <a:off x="548640" y="3749040"/>
            <a:ext cx="5212080" cy="868680"/>
          </a:xfrm>
          <a:prstGeom prst="roundRect">
            <a:avLst>
              <a:gd name="adj" fmla="val 10526"/>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13" name="Shape 11"/>
          <p:cNvSpPr/>
          <p:nvPr/>
        </p:nvSpPr>
        <p:spPr>
          <a:xfrm>
            <a:off x="749808" y="3950208"/>
            <a:ext cx="457200" cy="457200"/>
          </a:xfrm>
          <a:prstGeom prst="ellipse">
            <a:avLst/>
          </a:prstGeom>
          <a:solidFill>
            <a:srgbClr val="2563EB"/>
          </a:solidFill>
          <a:ln/>
        </p:spPr>
      </p:sp>
      <p:sp>
        <p:nvSpPr>
          <p:cNvPr id="14" name="Text 12"/>
          <p:cNvSpPr/>
          <p:nvPr/>
        </p:nvSpPr>
        <p:spPr>
          <a:xfrm>
            <a:off x="749808" y="3950208"/>
            <a:ext cx="457200" cy="45720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03</a:t>
            </a:r>
            <a:endParaRPr lang="en-US" sz="1300" dirty="0"/>
          </a:p>
        </p:txBody>
      </p:sp>
      <p:sp>
        <p:nvSpPr>
          <p:cNvPr id="15" name="Text 13"/>
          <p:cNvSpPr/>
          <p:nvPr/>
        </p:nvSpPr>
        <p:spPr>
          <a:xfrm>
            <a:off x="1371600" y="3749040"/>
            <a:ext cx="4206240" cy="86868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Operating System Concepts Applied</a:t>
            </a:r>
            <a:endParaRPr lang="en-US" sz="1400" dirty="0"/>
          </a:p>
        </p:txBody>
      </p:sp>
      <p:sp>
        <p:nvSpPr>
          <p:cNvPr id="16" name="Shape 14"/>
          <p:cNvSpPr/>
          <p:nvPr/>
        </p:nvSpPr>
        <p:spPr>
          <a:xfrm>
            <a:off x="548640" y="4800600"/>
            <a:ext cx="5212080" cy="868680"/>
          </a:xfrm>
          <a:prstGeom prst="roundRect">
            <a:avLst>
              <a:gd name="adj" fmla="val 10526"/>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17" name="Shape 15"/>
          <p:cNvSpPr/>
          <p:nvPr/>
        </p:nvSpPr>
        <p:spPr>
          <a:xfrm>
            <a:off x="749808" y="5001768"/>
            <a:ext cx="457200" cy="457200"/>
          </a:xfrm>
          <a:prstGeom prst="ellipse">
            <a:avLst/>
          </a:prstGeom>
          <a:solidFill>
            <a:srgbClr val="2563EB"/>
          </a:solidFill>
          <a:ln/>
        </p:spPr>
      </p:sp>
      <p:sp>
        <p:nvSpPr>
          <p:cNvPr id="18" name="Text 16"/>
          <p:cNvSpPr/>
          <p:nvPr/>
        </p:nvSpPr>
        <p:spPr>
          <a:xfrm>
            <a:off x="749808" y="5001768"/>
            <a:ext cx="457200" cy="45720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04</a:t>
            </a:r>
            <a:endParaRPr lang="en-US" sz="1300" dirty="0"/>
          </a:p>
        </p:txBody>
      </p:sp>
      <p:sp>
        <p:nvSpPr>
          <p:cNvPr id="19" name="Text 17"/>
          <p:cNvSpPr/>
          <p:nvPr/>
        </p:nvSpPr>
        <p:spPr>
          <a:xfrm>
            <a:off x="1371600" y="4800600"/>
            <a:ext cx="4206240" cy="86868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System Architecture &amp; Workflow</a:t>
            </a:r>
            <a:endParaRPr lang="en-US" sz="1400" dirty="0"/>
          </a:p>
        </p:txBody>
      </p:sp>
      <p:sp>
        <p:nvSpPr>
          <p:cNvPr id="20" name="Shape 18"/>
          <p:cNvSpPr/>
          <p:nvPr/>
        </p:nvSpPr>
        <p:spPr>
          <a:xfrm>
            <a:off x="6217920" y="1645920"/>
            <a:ext cx="5212080" cy="868680"/>
          </a:xfrm>
          <a:prstGeom prst="roundRect">
            <a:avLst>
              <a:gd name="adj" fmla="val 10526"/>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21" name="Shape 19"/>
          <p:cNvSpPr/>
          <p:nvPr/>
        </p:nvSpPr>
        <p:spPr>
          <a:xfrm>
            <a:off x="6419088" y="1847088"/>
            <a:ext cx="457200" cy="457200"/>
          </a:xfrm>
          <a:prstGeom prst="ellipse">
            <a:avLst/>
          </a:prstGeom>
          <a:solidFill>
            <a:srgbClr val="2563EB"/>
          </a:solidFill>
          <a:ln/>
        </p:spPr>
      </p:sp>
      <p:sp>
        <p:nvSpPr>
          <p:cNvPr id="22" name="Text 20"/>
          <p:cNvSpPr/>
          <p:nvPr/>
        </p:nvSpPr>
        <p:spPr>
          <a:xfrm>
            <a:off x="6419088" y="1847088"/>
            <a:ext cx="457200" cy="45720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05</a:t>
            </a:r>
            <a:endParaRPr lang="en-US" sz="1300" dirty="0"/>
          </a:p>
        </p:txBody>
      </p:sp>
      <p:sp>
        <p:nvSpPr>
          <p:cNvPr id="23" name="Text 21"/>
          <p:cNvSpPr/>
          <p:nvPr/>
        </p:nvSpPr>
        <p:spPr>
          <a:xfrm>
            <a:off x="7040880" y="1645920"/>
            <a:ext cx="4206240" cy="86868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Artificial Intelligence Module</a:t>
            </a:r>
            <a:endParaRPr lang="en-US" sz="1400" dirty="0"/>
          </a:p>
        </p:txBody>
      </p:sp>
      <p:sp>
        <p:nvSpPr>
          <p:cNvPr id="24" name="Shape 22"/>
          <p:cNvSpPr/>
          <p:nvPr/>
        </p:nvSpPr>
        <p:spPr>
          <a:xfrm>
            <a:off x="6217920" y="2697480"/>
            <a:ext cx="5212080" cy="868680"/>
          </a:xfrm>
          <a:prstGeom prst="roundRect">
            <a:avLst>
              <a:gd name="adj" fmla="val 10526"/>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25" name="Shape 23"/>
          <p:cNvSpPr/>
          <p:nvPr/>
        </p:nvSpPr>
        <p:spPr>
          <a:xfrm>
            <a:off x="6419088" y="2898648"/>
            <a:ext cx="457200" cy="457200"/>
          </a:xfrm>
          <a:prstGeom prst="ellipse">
            <a:avLst/>
          </a:prstGeom>
          <a:solidFill>
            <a:srgbClr val="2563EB"/>
          </a:solidFill>
          <a:ln/>
        </p:spPr>
      </p:sp>
      <p:sp>
        <p:nvSpPr>
          <p:cNvPr id="26" name="Text 24"/>
          <p:cNvSpPr/>
          <p:nvPr/>
        </p:nvSpPr>
        <p:spPr>
          <a:xfrm>
            <a:off x="6419088" y="2898648"/>
            <a:ext cx="457200" cy="45720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06</a:t>
            </a:r>
            <a:endParaRPr lang="en-US" sz="1300" dirty="0"/>
          </a:p>
        </p:txBody>
      </p:sp>
      <p:sp>
        <p:nvSpPr>
          <p:cNvPr id="27" name="Text 25"/>
          <p:cNvSpPr/>
          <p:nvPr/>
        </p:nvSpPr>
        <p:spPr>
          <a:xfrm>
            <a:off x="7040880" y="2697480"/>
            <a:ext cx="4206240" cy="86868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Technology Stack</a:t>
            </a:r>
            <a:endParaRPr lang="en-US" sz="1400" dirty="0"/>
          </a:p>
        </p:txBody>
      </p:sp>
      <p:sp>
        <p:nvSpPr>
          <p:cNvPr id="28" name="Shape 26"/>
          <p:cNvSpPr/>
          <p:nvPr/>
        </p:nvSpPr>
        <p:spPr>
          <a:xfrm>
            <a:off x="6217920" y="3749040"/>
            <a:ext cx="5212080" cy="868680"/>
          </a:xfrm>
          <a:prstGeom prst="roundRect">
            <a:avLst>
              <a:gd name="adj" fmla="val 10526"/>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29" name="Shape 27"/>
          <p:cNvSpPr/>
          <p:nvPr/>
        </p:nvSpPr>
        <p:spPr>
          <a:xfrm>
            <a:off x="6419088" y="3950208"/>
            <a:ext cx="457200" cy="457200"/>
          </a:xfrm>
          <a:prstGeom prst="ellipse">
            <a:avLst/>
          </a:prstGeom>
          <a:solidFill>
            <a:srgbClr val="2563EB"/>
          </a:solidFill>
          <a:ln/>
        </p:spPr>
      </p:sp>
      <p:sp>
        <p:nvSpPr>
          <p:cNvPr id="30" name="Text 28"/>
          <p:cNvSpPr/>
          <p:nvPr/>
        </p:nvSpPr>
        <p:spPr>
          <a:xfrm>
            <a:off x="6419088" y="3950208"/>
            <a:ext cx="457200" cy="45720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07</a:t>
            </a:r>
            <a:endParaRPr lang="en-US" sz="1300" dirty="0"/>
          </a:p>
        </p:txBody>
      </p:sp>
      <p:sp>
        <p:nvSpPr>
          <p:cNvPr id="31" name="Text 29"/>
          <p:cNvSpPr/>
          <p:nvPr/>
        </p:nvSpPr>
        <p:spPr>
          <a:xfrm>
            <a:off x="7040880" y="3749040"/>
            <a:ext cx="4206240" cy="86868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Dashboard, Results &amp; Benefits</a:t>
            </a:r>
            <a:endParaRPr lang="en-US" sz="1400" dirty="0"/>
          </a:p>
        </p:txBody>
      </p:sp>
      <p:sp>
        <p:nvSpPr>
          <p:cNvPr id="32" name="Shape 30"/>
          <p:cNvSpPr/>
          <p:nvPr/>
        </p:nvSpPr>
        <p:spPr>
          <a:xfrm>
            <a:off x="6217920" y="4800600"/>
            <a:ext cx="5212080" cy="868680"/>
          </a:xfrm>
          <a:prstGeom prst="roundRect">
            <a:avLst>
              <a:gd name="adj" fmla="val 10526"/>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33" name="Shape 31"/>
          <p:cNvSpPr/>
          <p:nvPr/>
        </p:nvSpPr>
        <p:spPr>
          <a:xfrm>
            <a:off x="6419088" y="5001768"/>
            <a:ext cx="457200" cy="457200"/>
          </a:xfrm>
          <a:prstGeom prst="ellipse">
            <a:avLst/>
          </a:prstGeom>
          <a:solidFill>
            <a:srgbClr val="2563EB"/>
          </a:solidFill>
          <a:ln/>
        </p:spPr>
      </p:sp>
      <p:sp>
        <p:nvSpPr>
          <p:cNvPr id="34" name="Text 32"/>
          <p:cNvSpPr/>
          <p:nvPr/>
        </p:nvSpPr>
        <p:spPr>
          <a:xfrm>
            <a:off x="6419088" y="5001768"/>
            <a:ext cx="457200" cy="45720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08</a:t>
            </a:r>
            <a:endParaRPr lang="en-US" sz="1300" dirty="0"/>
          </a:p>
        </p:txBody>
      </p:sp>
      <p:sp>
        <p:nvSpPr>
          <p:cNvPr id="35" name="Text 33"/>
          <p:cNvSpPr/>
          <p:nvPr/>
        </p:nvSpPr>
        <p:spPr>
          <a:xfrm>
            <a:off x="7040880" y="4800600"/>
            <a:ext cx="4206240" cy="868680"/>
          </a:xfrm>
          <a:prstGeom prst="rect">
            <a:avLst/>
          </a:prstGeom>
          <a:noFill/>
          <a:ln/>
        </p:spPr>
        <p:txBody>
          <a:bodyPr wrap="square" lIns="0" tIns="0" rIns="0" bIns="0" rtlCol="0" anchor="ctr"/>
          <a:lstStyle/>
          <a:p>
            <a:pPr marL="0" indent="0">
              <a:buNone/>
            </a:pPr>
            <a:r>
              <a:rPr lang="en-US" sz="1400" b="1" dirty="0">
                <a:solidFill>
                  <a:srgbClr val="F8FAFC"/>
                </a:solidFill>
                <a:latin typeface="Calibri" pitchFamily="34" charset="0"/>
                <a:ea typeface="Calibri" pitchFamily="34" charset="-122"/>
                <a:cs typeface="Calibri" pitchFamily="34" charset="-120"/>
              </a:rPr>
              <a:t>Applications, Future Scope &amp; Conclusion</a:t>
            </a:r>
            <a:endParaRPr lang="en-US" sz="1400" dirty="0"/>
          </a:p>
        </p:txBody>
      </p:sp>
      <p:sp>
        <p:nvSpPr>
          <p:cNvPr id="36" name="Text 34"/>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37" name="Text 35"/>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02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FOUNDATION</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Introduction to Operating Systems</a:t>
            </a:r>
            <a:endParaRPr lang="en-US" sz="3000" dirty="0"/>
          </a:p>
        </p:txBody>
      </p:sp>
      <p:sp>
        <p:nvSpPr>
          <p:cNvPr id="4" name="Text 2"/>
          <p:cNvSpPr/>
          <p:nvPr/>
        </p:nvSpPr>
        <p:spPr>
          <a:xfrm>
            <a:off x="548640" y="1600200"/>
            <a:ext cx="5486400" cy="420624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50" dirty="0">
                <a:solidFill>
                  <a:srgbClr val="F8FAFC"/>
                </a:solidFill>
                <a:latin typeface="Calibri" pitchFamily="34" charset="0"/>
                <a:ea typeface="Calibri" pitchFamily="34" charset="-122"/>
                <a:cs typeface="Calibri" pitchFamily="34" charset="-120"/>
              </a:rPr>
              <a:t>An Operating System is the core software layer that manages all hardware and software resources of a computer</a:t>
            </a:r>
            <a:endParaRPr lang="en-US" sz="1450" dirty="0"/>
          </a:p>
          <a:p>
            <a:pPr marL="228600" indent="-228600">
              <a:lnSpc>
                <a:spcPct val="115000"/>
              </a:lnSpc>
              <a:spcAft>
                <a:spcPts val="1400"/>
              </a:spcAft>
              <a:buSzPct val="100000"/>
              <a:buChar char="•"/>
            </a:pPr>
            <a:r>
              <a:rPr lang="en-US" sz="1450" dirty="0">
                <a:solidFill>
                  <a:srgbClr val="F8FAFC"/>
                </a:solidFill>
                <a:latin typeface="Calibri" pitchFamily="34" charset="0"/>
                <a:ea typeface="Calibri" pitchFamily="34" charset="-122"/>
                <a:cs typeface="Calibri" pitchFamily="34" charset="-120"/>
              </a:rPr>
              <a:t>It acts as the intermediary between running applications and physical hardware — CPU, memory, disk, and I/O devices</a:t>
            </a:r>
            <a:endParaRPr lang="en-US" sz="1450" dirty="0"/>
          </a:p>
          <a:p>
            <a:pPr marL="228600" indent="-228600">
              <a:lnSpc>
                <a:spcPct val="115000"/>
              </a:lnSpc>
              <a:spcAft>
                <a:spcPts val="1400"/>
              </a:spcAft>
              <a:buSzPct val="100000"/>
              <a:buChar char="•"/>
            </a:pPr>
            <a:r>
              <a:rPr lang="en-US" sz="1450" dirty="0">
                <a:solidFill>
                  <a:srgbClr val="F8FAFC"/>
                </a:solidFill>
                <a:latin typeface="Calibri" pitchFamily="34" charset="0"/>
                <a:ea typeface="Calibri" pitchFamily="34" charset="-122"/>
                <a:cs typeface="Calibri" pitchFamily="34" charset="-120"/>
              </a:rPr>
              <a:t>Core OS functions: process management, memory management, file systems, and device management</a:t>
            </a:r>
            <a:endParaRPr lang="en-US" sz="1450" dirty="0"/>
          </a:p>
          <a:p>
            <a:pPr marL="228600" indent="-228600">
              <a:lnSpc>
                <a:spcPct val="115000"/>
              </a:lnSpc>
              <a:spcAft>
                <a:spcPts val="1400"/>
              </a:spcAft>
              <a:buSzPct val="100000"/>
              <a:buChar char="•"/>
            </a:pPr>
            <a:r>
              <a:rPr lang="en-US" sz="1450" dirty="0">
                <a:solidFill>
                  <a:srgbClr val="F8FAFC"/>
                </a:solidFill>
                <a:latin typeface="Calibri" pitchFamily="34" charset="0"/>
                <a:ea typeface="Calibri" pitchFamily="34" charset="-122"/>
                <a:cs typeface="Calibri" pitchFamily="34" charset="-120"/>
              </a:rPr>
              <a:t>Every metric this project monitors — CPU%, RAM, Disk I/O, Network — is generated and governed by the OS kernel</a:t>
            </a:r>
            <a:endParaRPr lang="en-US" sz="1450" dirty="0"/>
          </a:p>
          <a:p>
            <a:pPr marL="228600" indent="-228600">
              <a:lnSpc>
                <a:spcPct val="115000"/>
              </a:lnSpc>
              <a:spcAft>
                <a:spcPts val="1400"/>
              </a:spcAft>
              <a:buSzPct val="100000"/>
              <a:buChar char="•"/>
            </a:pPr>
            <a:r>
              <a:rPr lang="en-US" sz="1450" dirty="0">
                <a:solidFill>
                  <a:srgbClr val="F8FAFC"/>
                </a:solidFill>
                <a:latin typeface="Calibri" pitchFamily="34" charset="0"/>
                <a:ea typeface="Calibri" pitchFamily="34" charset="-122"/>
                <a:cs typeface="Calibri" pitchFamily="34" charset="-120"/>
              </a:rPr>
              <a:t>This project observes and analyzes real, live OS-level resource behavior, not simulated data</a:t>
            </a:r>
            <a:endParaRPr lang="en-US" sz="1450" dirty="0"/>
          </a:p>
        </p:txBody>
      </p:sp>
      <p:sp>
        <p:nvSpPr>
          <p:cNvPr id="5" name="Shape 3"/>
          <p:cNvSpPr/>
          <p:nvPr/>
        </p:nvSpPr>
        <p:spPr>
          <a:xfrm>
            <a:off x="6537960" y="1737360"/>
            <a:ext cx="5120640" cy="777240"/>
          </a:xfrm>
          <a:prstGeom prst="roundRect">
            <a:avLst>
              <a:gd name="adj" fmla="val 9412"/>
            </a:avLst>
          </a:prstGeom>
          <a:solidFill>
            <a:srgbClr val="24304A"/>
          </a:solidFill>
          <a:ln w="12700">
            <a:solidFill>
              <a:srgbClr val="334155"/>
            </a:solidFill>
            <a:prstDash val="solid"/>
          </a:ln>
        </p:spPr>
      </p:sp>
      <p:sp>
        <p:nvSpPr>
          <p:cNvPr id="6" name="Text 4"/>
          <p:cNvSpPr/>
          <p:nvPr/>
        </p:nvSpPr>
        <p:spPr>
          <a:xfrm>
            <a:off x="6720840" y="1737360"/>
            <a:ext cx="4754880" cy="777240"/>
          </a:xfrm>
          <a:prstGeom prst="rect">
            <a:avLst/>
          </a:prstGeom>
          <a:noFill/>
          <a:ln/>
        </p:spPr>
        <p:txBody>
          <a:bodyPr wrap="square" lIns="0" tIns="0" rIns="0" bIns="0" rtlCol="0" anchor="ctr"/>
          <a:lstStyle/>
          <a:p>
            <a:pPr marL="0" indent="0">
              <a:buNone/>
            </a:pPr>
            <a:r>
              <a:rPr lang="en-US" sz="1350" b="1" dirty="0">
                <a:solidFill>
                  <a:srgbClr val="F8FAFC"/>
                </a:solidFill>
                <a:latin typeface="Calibri" pitchFamily="34" charset="0"/>
                <a:ea typeface="Calibri" pitchFamily="34" charset="-122"/>
                <a:cs typeface="Calibri" pitchFamily="34" charset="-120"/>
              </a:rPr>
              <a:t>Applications / User Programs</a:t>
            </a:r>
            <a:endParaRPr lang="en-US" sz="1350" dirty="0"/>
          </a:p>
        </p:txBody>
      </p:sp>
      <p:sp>
        <p:nvSpPr>
          <p:cNvPr id="7" name="Shape 5"/>
          <p:cNvSpPr/>
          <p:nvPr/>
        </p:nvSpPr>
        <p:spPr>
          <a:xfrm>
            <a:off x="6537960" y="2679192"/>
            <a:ext cx="5120640" cy="777240"/>
          </a:xfrm>
          <a:prstGeom prst="roundRect">
            <a:avLst>
              <a:gd name="adj" fmla="val 9412"/>
            </a:avLst>
          </a:prstGeom>
          <a:solidFill>
            <a:srgbClr val="2563EB"/>
          </a:solidFill>
          <a:ln w="12700">
            <a:solidFill>
              <a:srgbClr val="334155"/>
            </a:solidFill>
            <a:prstDash val="solid"/>
          </a:ln>
        </p:spPr>
      </p:sp>
      <p:sp>
        <p:nvSpPr>
          <p:cNvPr id="8" name="Text 6"/>
          <p:cNvSpPr/>
          <p:nvPr/>
        </p:nvSpPr>
        <p:spPr>
          <a:xfrm>
            <a:off x="6720840" y="2679192"/>
            <a:ext cx="4754880" cy="777240"/>
          </a:xfrm>
          <a:prstGeom prst="rect">
            <a:avLst/>
          </a:prstGeom>
          <a:noFill/>
          <a:ln/>
        </p:spPr>
        <p:txBody>
          <a:bodyPr wrap="square" lIns="0" tIns="0" rIns="0" bIns="0" rtlCol="0" anchor="ctr"/>
          <a:lstStyle/>
          <a:p>
            <a:pPr marL="0" indent="0">
              <a:buNone/>
            </a:pPr>
            <a:r>
              <a:rPr lang="en-US" sz="1350" b="1" dirty="0">
                <a:solidFill>
                  <a:srgbClr val="F8FAFC"/>
                </a:solidFill>
                <a:latin typeface="Calibri" pitchFamily="34" charset="0"/>
                <a:ea typeface="Calibri" pitchFamily="34" charset="-122"/>
                <a:cs typeface="Calibri" pitchFamily="34" charset="-120"/>
              </a:rPr>
              <a:t>Operating System Kernel</a:t>
            </a:r>
            <a:endParaRPr lang="en-US" sz="1350" dirty="0"/>
          </a:p>
        </p:txBody>
      </p:sp>
      <p:sp>
        <p:nvSpPr>
          <p:cNvPr id="9" name="Shape 7"/>
          <p:cNvSpPr/>
          <p:nvPr/>
        </p:nvSpPr>
        <p:spPr>
          <a:xfrm>
            <a:off x="6537960" y="3621024"/>
            <a:ext cx="5120640" cy="548640"/>
          </a:xfrm>
          <a:prstGeom prst="roundRect">
            <a:avLst>
              <a:gd name="adj" fmla="val 13333"/>
            </a:avLst>
          </a:prstGeom>
          <a:solidFill>
            <a:srgbClr val="24304A"/>
          </a:solidFill>
          <a:ln w="12700">
            <a:solidFill>
              <a:srgbClr val="334155"/>
            </a:solidFill>
            <a:prstDash val="solid"/>
          </a:ln>
        </p:spPr>
      </p:sp>
      <p:sp>
        <p:nvSpPr>
          <p:cNvPr id="10" name="Text 8"/>
          <p:cNvSpPr/>
          <p:nvPr/>
        </p:nvSpPr>
        <p:spPr>
          <a:xfrm>
            <a:off x="6720840" y="3621024"/>
            <a:ext cx="4754880" cy="548640"/>
          </a:xfrm>
          <a:prstGeom prst="rect">
            <a:avLst/>
          </a:prstGeom>
          <a:noFill/>
          <a:ln/>
        </p:spPr>
        <p:txBody>
          <a:bodyPr wrap="square" lIns="0" tIns="0" rIns="0" bIns="0" rtlCol="0" anchor="ctr"/>
          <a:lstStyle/>
          <a:p>
            <a:pPr marL="0" indent="0">
              <a:buNone/>
            </a:pPr>
            <a:r>
              <a:rPr lang="en-US" sz="1150" dirty="0">
                <a:solidFill>
                  <a:srgbClr val="F8FAFC"/>
                </a:solidFill>
                <a:latin typeface="Calibri" pitchFamily="34" charset="0"/>
                <a:ea typeface="Calibri" pitchFamily="34" charset="-122"/>
                <a:cs typeface="Calibri" pitchFamily="34" charset="-120"/>
              </a:rPr>
              <a:t>Process · Memory · File · Device Management</a:t>
            </a:r>
            <a:endParaRPr lang="en-US" sz="1150" dirty="0"/>
          </a:p>
        </p:txBody>
      </p:sp>
      <p:sp>
        <p:nvSpPr>
          <p:cNvPr id="11" name="Shape 9"/>
          <p:cNvSpPr/>
          <p:nvPr/>
        </p:nvSpPr>
        <p:spPr>
          <a:xfrm>
            <a:off x="6537960" y="4334256"/>
            <a:ext cx="5120640" cy="777240"/>
          </a:xfrm>
          <a:prstGeom prst="roundRect">
            <a:avLst>
              <a:gd name="adj" fmla="val 9412"/>
            </a:avLst>
          </a:prstGeom>
          <a:solidFill>
            <a:srgbClr val="38BDF8"/>
          </a:solidFill>
          <a:ln w="12700">
            <a:solidFill>
              <a:srgbClr val="334155"/>
            </a:solidFill>
            <a:prstDash val="solid"/>
          </a:ln>
        </p:spPr>
      </p:sp>
      <p:sp>
        <p:nvSpPr>
          <p:cNvPr id="12" name="Text 10"/>
          <p:cNvSpPr/>
          <p:nvPr/>
        </p:nvSpPr>
        <p:spPr>
          <a:xfrm>
            <a:off x="6720840" y="4334256"/>
            <a:ext cx="4754880" cy="77724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Physical Hardware (CPU · RAM · Disk · Network)</a:t>
            </a:r>
            <a:endParaRPr lang="en-US" sz="1350" dirty="0"/>
          </a:p>
        </p:txBody>
      </p:sp>
      <p:sp>
        <p:nvSpPr>
          <p:cNvPr id="13" name="Text 11"/>
          <p:cNvSpPr/>
          <p:nvPr/>
        </p:nvSpPr>
        <p:spPr>
          <a:xfrm>
            <a:off x="6537960" y="5321808"/>
            <a:ext cx="5120640" cy="822960"/>
          </a:xfrm>
          <a:prstGeom prst="rect">
            <a:avLst/>
          </a:prstGeom>
          <a:noFill/>
          <a:ln/>
        </p:spPr>
        <p:txBody>
          <a:bodyPr wrap="square" rtlCol="0" anchor="ctr"/>
          <a:lstStyle/>
          <a:p>
            <a:pPr marL="0" indent="0">
              <a:buNone/>
            </a:pPr>
            <a:r>
              <a:rPr lang="en-US" sz="1150" i="1" dirty="0">
                <a:solidFill>
                  <a:srgbClr val="94A3B8"/>
                </a:solidFill>
                <a:latin typeface="Calibri" pitchFamily="34" charset="0"/>
                <a:ea typeface="Calibri" pitchFamily="34" charset="-122"/>
                <a:cs typeface="Calibri" pitchFamily="34" charset="-120"/>
              </a:rPr>
              <a:t>This project monitors the boundary highlighted in blue — where the OS kernel meets the applications above it.</a:t>
            </a:r>
            <a:endParaRPr lang="en-US" sz="1150" dirty="0"/>
          </a:p>
        </p:txBody>
      </p:sp>
      <p:sp>
        <p:nvSpPr>
          <p:cNvPr id="14" name="Text 12"/>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15" name="Text 13"/>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03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Problem Statement</a:t>
            </a:r>
            <a:endParaRPr lang="en-US" sz="3000" dirty="0"/>
          </a:p>
        </p:txBody>
      </p:sp>
      <p:sp>
        <p:nvSpPr>
          <p:cNvPr id="4" name="Text 2"/>
          <p:cNvSpPr/>
          <p:nvPr/>
        </p:nvSpPr>
        <p:spPr>
          <a:xfrm>
            <a:off x="548640" y="1691640"/>
            <a:ext cx="6309360" cy="4206240"/>
          </a:xfrm>
          <a:prstGeom prst="rect">
            <a:avLst/>
          </a:prstGeom>
          <a:noFill/>
          <a:ln/>
        </p:spPr>
        <p:txBody>
          <a:bodyPr wrap="square" lIns="0" tIns="0" rIns="0" bIns="0" rtlCol="0" anchor="t"/>
          <a:lstStyle/>
          <a:p>
            <a:pPr marL="228600" indent="-228600">
              <a:lnSpc>
                <a:spcPct val="115000"/>
              </a:lnSpc>
              <a:spcAft>
                <a:spcPts val="1500"/>
              </a:spcAft>
              <a:buSzPct val="100000"/>
              <a:buChar char="•"/>
            </a:pPr>
            <a:r>
              <a:rPr lang="en-US" sz="1450" dirty="0">
                <a:solidFill>
                  <a:srgbClr val="F8FAFC"/>
                </a:solidFill>
                <a:latin typeface="Calibri" pitchFamily="34" charset="0"/>
                <a:ea typeface="Calibri" pitchFamily="34" charset="-122"/>
                <a:cs typeface="Calibri" pitchFamily="34" charset="-120"/>
              </a:rPr>
              <a:t>Manual resource monitoring using OS tools (Task Manager, top, htop) is reactive, not proactive</a:t>
            </a:r>
            <a:endParaRPr lang="en-US" sz="1450" dirty="0"/>
          </a:p>
          <a:p>
            <a:pPr marL="228600" indent="-228600">
              <a:lnSpc>
                <a:spcPct val="115000"/>
              </a:lnSpc>
              <a:spcAft>
                <a:spcPts val="1500"/>
              </a:spcAft>
              <a:buSzPct val="100000"/>
              <a:buChar char="•"/>
            </a:pPr>
            <a:r>
              <a:rPr lang="en-US" sz="1450" dirty="0">
                <a:solidFill>
                  <a:srgbClr val="F8FAFC"/>
                </a:solidFill>
                <a:latin typeface="Calibri" pitchFamily="34" charset="0"/>
                <a:ea typeface="Calibri" pitchFamily="34" charset="-122"/>
                <a:cs typeface="Calibri" pitchFamily="34" charset="-120"/>
              </a:rPr>
              <a:t>Administrators must manually interpret raw CPU, memory, and disk data — there is no automated reasoning</a:t>
            </a:r>
            <a:endParaRPr lang="en-US" sz="1450" dirty="0"/>
          </a:p>
          <a:p>
            <a:pPr marL="228600" indent="-228600">
              <a:lnSpc>
                <a:spcPct val="115000"/>
              </a:lnSpc>
              <a:spcAft>
                <a:spcPts val="1500"/>
              </a:spcAft>
              <a:buSzPct val="100000"/>
              <a:buChar char="•"/>
            </a:pPr>
            <a:r>
              <a:rPr lang="en-US" sz="1450" dirty="0">
                <a:solidFill>
                  <a:srgbClr val="F8FAFC"/>
                </a:solidFill>
                <a:latin typeface="Calibri" pitchFamily="34" charset="0"/>
                <a:ea typeface="Calibri" pitchFamily="34" charset="-122"/>
                <a:cs typeface="Calibri" pitchFamily="34" charset="-120"/>
              </a:rPr>
              <a:t>No early warning exists before CPU, memory, or disk exhaustion causes slowdowns or system failure</a:t>
            </a:r>
            <a:endParaRPr lang="en-US" sz="1450" dirty="0"/>
          </a:p>
          <a:p>
            <a:pPr marL="228600" indent="-228600">
              <a:lnSpc>
                <a:spcPct val="115000"/>
              </a:lnSpc>
              <a:spcAft>
                <a:spcPts val="1500"/>
              </a:spcAft>
              <a:buSzPct val="100000"/>
              <a:buChar char="•"/>
            </a:pPr>
            <a:r>
              <a:rPr lang="en-US" sz="1450" dirty="0">
                <a:solidFill>
                  <a:srgbClr val="F8FAFC"/>
                </a:solidFill>
                <a:latin typeface="Calibri" pitchFamily="34" charset="0"/>
                <a:ea typeface="Calibri" pitchFamily="34" charset="-122"/>
                <a:cs typeface="Calibri" pitchFamily="34" charset="-120"/>
              </a:rPr>
              <a:t>Historical resource-usage patterns are rarely captured or analyzed for trend prediction</a:t>
            </a:r>
            <a:endParaRPr lang="en-US" sz="1450" dirty="0"/>
          </a:p>
          <a:p>
            <a:pPr marL="228600" indent="-228600">
              <a:lnSpc>
                <a:spcPct val="115000"/>
              </a:lnSpc>
              <a:spcAft>
                <a:spcPts val="1500"/>
              </a:spcAft>
              <a:buSzPct val="100000"/>
              <a:buChar char="•"/>
            </a:pPr>
            <a:r>
              <a:rPr lang="en-US" sz="1450" dirty="0">
                <a:solidFill>
                  <a:srgbClr val="F8FAFC"/>
                </a:solidFill>
                <a:latin typeface="Calibri" pitchFamily="34" charset="0"/>
                <a:ea typeface="Calibri" pitchFamily="34" charset="-122"/>
                <a:cs typeface="Calibri" pitchFamily="34" charset="-120"/>
              </a:rPr>
              <a:t>There is a need for continuous, intelligent monitoring built directly on live OS resource data</a:t>
            </a:r>
            <a:endParaRPr lang="en-US" sz="1450" dirty="0"/>
          </a:p>
        </p:txBody>
      </p:sp>
      <p:sp>
        <p:nvSpPr>
          <p:cNvPr id="5" name="Shape 3"/>
          <p:cNvSpPr/>
          <p:nvPr/>
        </p:nvSpPr>
        <p:spPr>
          <a:xfrm>
            <a:off x="7178040" y="1691640"/>
            <a:ext cx="4480560" cy="4206240"/>
          </a:xfrm>
          <a:prstGeom prst="roundRect">
            <a:avLst>
              <a:gd name="adj" fmla="val 2174"/>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6" name="Shape 4"/>
          <p:cNvSpPr/>
          <p:nvPr/>
        </p:nvSpPr>
        <p:spPr>
          <a:xfrm>
            <a:off x="7452360" y="1965960"/>
            <a:ext cx="548640" cy="548640"/>
          </a:xfrm>
          <a:prstGeom prst="ellipse">
            <a:avLst/>
          </a:prstGeom>
          <a:solidFill>
            <a:srgbClr val="FACC15"/>
          </a:solidFill>
          <a:ln/>
        </p:spPr>
      </p:sp>
      <p:sp>
        <p:nvSpPr>
          <p:cNvPr id="7" name="Text 5"/>
          <p:cNvSpPr/>
          <p:nvPr/>
        </p:nvSpPr>
        <p:spPr>
          <a:xfrm>
            <a:off x="7452360" y="1965960"/>
            <a:ext cx="548640" cy="548640"/>
          </a:xfrm>
          <a:prstGeom prst="rect">
            <a:avLst/>
          </a:prstGeom>
          <a:noFill/>
          <a:ln/>
        </p:spPr>
        <p:txBody>
          <a:bodyPr wrap="square" lIns="0" tIns="0" rIns="0" bIns="0" rtlCol="0" anchor="ctr"/>
          <a:lstStyle/>
          <a:p>
            <a:pPr marL="0" indent="0" algn="ctr">
              <a:buNone/>
            </a:pPr>
            <a:r>
              <a:rPr lang="en-US" sz="2200" b="1" dirty="0">
                <a:solidFill>
                  <a:srgbClr val="0F172A"/>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8138160" y="1993392"/>
            <a:ext cx="3383280" cy="457200"/>
          </a:xfrm>
          <a:prstGeom prst="rect">
            <a:avLst/>
          </a:prstGeom>
          <a:noFill/>
          <a:ln/>
        </p:spPr>
        <p:txBody>
          <a:bodyPr wrap="square" lIns="0" tIns="0" rIns="0" bIns="0" rtlCol="0" anchor="ctr"/>
          <a:lstStyle/>
          <a:p>
            <a:pPr marL="0" indent="0">
              <a:buNone/>
            </a:pPr>
            <a:r>
              <a:rPr lang="en-US" sz="1600" b="1" dirty="0">
                <a:solidFill>
                  <a:srgbClr val="F8FAFC"/>
                </a:solidFill>
                <a:latin typeface="Poppins" pitchFamily="34" charset="0"/>
                <a:ea typeface="Poppins" pitchFamily="34" charset="-122"/>
                <a:cs typeface="Poppins" pitchFamily="34" charset="-120"/>
              </a:rPr>
              <a:t>Core Gap</a:t>
            </a:r>
            <a:endParaRPr lang="en-US" sz="1600" dirty="0"/>
          </a:p>
        </p:txBody>
      </p:sp>
      <p:sp>
        <p:nvSpPr>
          <p:cNvPr id="9" name="Text 7"/>
          <p:cNvSpPr/>
          <p:nvPr/>
        </p:nvSpPr>
        <p:spPr>
          <a:xfrm>
            <a:off x="7452360" y="2697480"/>
            <a:ext cx="3931920" cy="1188720"/>
          </a:xfrm>
          <a:prstGeom prst="rect">
            <a:avLst/>
          </a:prstGeom>
          <a:noFill/>
          <a:ln/>
        </p:spPr>
        <p:txBody>
          <a:bodyPr wrap="square" lIns="0" tIns="0" rIns="0" bIns="0" rtlCol="0" anchor="ctr"/>
          <a:lstStyle/>
          <a:p>
            <a:pPr marL="0" indent="0">
              <a:lnSpc>
                <a:spcPct val="120000"/>
              </a:lnSpc>
              <a:buNone/>
            </a:pPr>
            <a:r>
              <a:rPr lang="en-US" sz="1300" dirty="0">
                <a:solidFill>
                  <a:srgbClr val="94A3B8"/>
                </a:solidFill>
                <a:latin typeface="Calibri" pitchFamily="34" charset="0"/>
                <a:ea typeface="Calibri" pitchFamily="34" charset="-122"/>
                <a:cs typeface="Calibri" pitchFamily="34" charset="-120"/>
              </a:rPr>
              <a:t>Existing OS-level tools show what is happening right now, but not what is about to happen — and offer no guidance on what to do about it.</a:t>
            </a:r>
            <a:endParaRPr lang="en-US" sz="1300" dirty="0"/>
          </a:p>
        </p:txBody>
      </p:sp>
      <p:sp>
        <p:nvSpPr>
          <p:cNvPr id="10" name="Shape 8"/>
          <p:cNvSpPr/>
          <p:nvPr/>
        </p:nvSpPr>
        <p:spPr>
          <a:xfrm>
            <a:off x="7452360" y="4023360"/>
            <a:ext cx="3931920" cy="0"/>
          </a:xfrm>
          <a:prstGeom prst="line">
            <a:avLst/>
          </a:prstGeom>
          <a:noFill/>
          <a:ln w="12700">
            <a:solidFill>
              <a:srgbClr val="334155"/>
            </a:solidFill>
            <a:prstDash val="solid"/>
          </a:ln>
        </p:spPr>
      </p:sp>
      <p:sp>
        <p:nvSpPr>
          <p:cNvPr id="11" name="Text 9"/>
          <p:cNvSpPr/>
          <p:nvPr/>
        </p:nvSpPr>
        <p:spPr>
          <a:xfrm>
            <a:off x="7452360" y="4160520"/>
            <a:ext cx="3931920" cy="320040"/>
          </a:xfrm>
          <a:prstGeom prst="rect">
            <a:avLst/>
          </a:prstGeom>
          <a:noFill/>
          <a:ln/>
        </p:spPr>
        <p:txBody>
          <a:bodyPr wrap="square" lIns="0" tIns="0" rIns="0" bIns="0" rtlCol="0" anchor="ctr"/>
          <a:lstStyle/>
          <a:p>
            <a:pPr marL="0" indent="0">
              <a:buNone/>
            </a:pPr>
            <a:r>
              <a:rPr lang="en-US" sz="1200" b="1" dirty="0">
                <a:solidFill>
                  <a:srgbClr val="38BDF8"/>
                </a:solidFill>
                <a:latin typeface="Calibri" pitchFamily="34" charset="0"/>
                <a:ea typeface="Calibri" pitchFamily="34" charset="-122"/>
                <a:cs typeface="Calibri" pitchFamily="34" charset="-120"/>
              </a:rPr>
              <a:t>Our Focus</a:t>
            </a:r>
            <a:endParaRPr lang="en-US" sz="1200" dirty="0"/>
          </a:p>
        </p:txBody>
      </p:sp>
      <p:sp>
        <p:nvSpPr>
          <p:cNvPr id="12" name="Text 10"/>
          <p:cNvSpPr/>
          <p:nvPr/>
        </p:nvSpPr>
        <p:spPr>
          <a:xfrm>
            <a:off x="7452360" y="4480560"/>
            <a:ext cx="3931920" cy="1188720"/>
          </a:xfrm>
          <a:prstGeom prst="rect">
            <a:avLst/>
          </a:prstGeom>
          <a:noFill/>
          <a:ln/>
        </p:spPr>
        <p:txBody>
          <a:bodyPr wrap="square" lIns="0" tIns="0" rIns="0" bIns="0" rtlCol="0" anchor="ctr"/>
          <a:lstStyle/>
          <a:p>
            <a:pPr marL="0" indent="0">
              <a:lnSpc>
                <a:spcPct val="120000"/>
              </a:lnSpc>
              <a:buNone/>
            </a:pPr>
            <a:r>
              <a:rPr lang="en-US" sz="1300" dirty="0">
                <a:solidFill>
                  <a:srgbClr val="F8FAFC"/>
                </a:solidFill>
                <a:latin typeface="Calibri" pitchFamily="34" charset="0"/>
                <a:ea typeface="Calibri" pitchFamily="34" charset="-122"/>
                <a:cs typeface="Calibri" pitchFamily="34" charset="-120"/>
              </a:rPr>
              <a:t>Turn raw OS resource data into continuous, predictive, and actionable insight.</a:t>
            </a:r>
            <a:endParaRPr lang="en-US" sz="1300" dirty="0"/>
          </a:p>
        </p:txBody>
      </p:sp>
      <p:sp>
        <p:nvSpPr>
          <p:cNvPr id="13" name="Text 11"/>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14" name="Text 12"/>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04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Project Objectives</a:t>
            </a:r>
            <a:endParaRPr lang="en-US" sz="3000" dirty="0"/>
          </a:p>
        </p:txBody>
      </p:sp>
      <p:sp>
        <p:nvSpPr>
          <p:cNvPr id="4" name="Shape 2"/>
          <p:cNvSpPr/>
          <p:nvPr/>
        </p:nvSpPr>
        <p:spPr>
          <a:xfrm>
            <a:off x="548640" y="1691640"/>
            <a:ext cx="5440680" cy="1234440"/>
          </a:xfrm>
          <a:prstGeom prst="roundRect">
            <a:avLst>
              <a:gd name="adj" fmla="val 740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5" name="Shape 3"/>
          <p:cNvSpPr/>
          <p:nvPr/>
        </p:nvSpPr>
        <p:spPr>
          <a:xfrm>
            <a:off x="777240" y="1920240"/>
            <a:ext cx="502920" cy="502920"/>
          </a:xfrm>
          <a:prstGeom prst="ellipse">
            <a:avLst/>
          </a:prstGeom>
          <a:solidFill>
            <a:srgbClr val="2563EB"/>
          </a:solidFill>
          <a:ln/>
        </p:spPr>
      </p:sp>
      <p:sp>
        <p:nvSpPr>
          <p:cNvPr id="6" name="Text 4"/>
          <p:cNvSpPr/>
          <p:nvPr/>
        </p:nvSpPr>
        <p:spPr>
          <a:xfrm>
            <a:off x="777240" y="1920240"/>
            <a:ext cx="502920" cy="50292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463040" y="1801368"/>
            <a:ext cx="4297680" cy="1005840"/>
          </a:xfrm>
          <a:prstGeom prst="rect">
            <a:avLst/>
          </a:prstGeom>
          <a:noFill/>
          <a:ln/>
        </p:spPr>
        <p:txBody>
          <a:bodyPr wrap="square" lIns="0" tIns="0" rIns="0" bIns="0" rtlCol="0" anchor="ctr"/>
          <a:lstStyle/>
          <a:p>
            <a:pPr marL="0" indent="0">
              <a:lnSpc>
                <a:spcPct val="115000"/>
              </a:lnSpc>
              <a:buNone/>
            </a:pPr>
            <a:r>
              <a:rPr lang="en-US" sz="1250" dirty="0">
                <a:solidFill>
                  <a:srgbClr val="F8FAFC"/>
                </a:solidFill>
                <a:latin typeface="Calibri" pitchFamily="34" charset="0"/>
                <a:ea typeface="Calibri" pitchFamily="34" charset="-122"/>
                <a:cs typeface="Calibri" pitchFamily="34" charset="-120"/>
              </a:rPr>
              <a:t>Continuously monitor core OS resources — CPU, Memory, Disk, Network, and Processes — in real time</a:t>
            </a:r>
            <a:endParaRPr lang="en-US" sz="1250" dirty="0"/>
          </a:p>
        </p:txBody>
      </p:sp>
      <p:sp>
        <p:nvSpPr>
          <p:cNvPr id="8" name="Shape 6"/>
          <p:cNvSpPr/>
          <p:nvPr/>
        </p:nvSpPr>
        <p:spPr>
          <a:xfrm>
            <a:off x="548640" y="3108960"/>
            <a:ext cx="5440680" cy="1234440"/>
          </a:xfrm>
          <a:prstGeom prst="roundRect">
            <a:avLst>
              <a:gd name="adj" fmla="val 740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9" name="Shape 7"/>
          <p:cNvSpPr/>
          <p:nvPr/>
        </p:nvSpPr>
        <p:spPr>
          <a:xfrm>
            <a:off x="777240" y="3337560"/>
            <a:ext cx="502920" cy="502920"/>
          </a:xfrm>
          <a:prstGeom prst="ellipse">
            <a:avLst/>
          </a:prstGeom>
          <a:solidFill>
            <a:srgbClr val="2563EB"/>
          </a:solidFill>
          <a:ln/>
        </p:spPr>
      </p:sp>
      <p:sp>
        <p:nvSpPr>
          <p:cNvPr id="10" name="Text 8"/>
          <p:cNvSpPr/>
          <p:nvPr/>
        </p:nvSpPr>
        <p:spPr>
          <a:xfrm>
            <a:off x="777240" y="3337560"/>
            <a:ext cx="502920" cy="50292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1463040" y="3218688"/>
            <a:ext cx="4297680" cy="1005840"/>
          </a:xfrm>
          <a:prstGeom prst="rect">
            <a:avLst/>
          </a:prstGeom>
          <a:noFill/>
          <a:ln/>
        </p:spPr>
        <p:txBody>
          <a:bodyPr wrap="square" lIns="0" tIns="0" rIns="0" bIns="0" rtlCol="0" anchor="ctr"/>
          <a:lstStyle/>
          <a:p>
            <a:pPr marL="0" indent="0">
              <a:lnSpc>
                <a:spcPct val="115000"/>
              </a:lnSpc>
              <a:buNone/>
            </a:pPr>
            <a:r>
              <a:rPr lang="en-US" sz="1250" dirty="0">
                <a:solidFill>
                  <a:srgbClr val="F8FAFC"/>
                </a:solidFill>
                <a:latin typeface="Calibri" pitchFamily="34" charset="0"/>
                <a:ea typeface="Calibri" pitchFamily="34" charset="-122"/>
                <a:cs typeface="Calibri" pitchFamily="34" charset="-120"/>
              </a:rPr>
              <a:t>Apply OS scheduling and memory-management concepts to interpret resource behavior accurately</a:t>
            </a:r>
            <a:endParaRPr lang="en-US" sz="1250" dirty="0"/>
          </a:p>
        </p:txBody>
      </p:sp>
      <p:sp>
        <p:nvSpPr>
          <p:cNvPr id="12" name="Shape 10"/>
          <p:cNvSpPr/>
          <p:nvPr/>
        </p:nvSpPr>
        <p:spPr>
          <a:xfrm>
            <a:off x="548640" y="4526280"/>
            <a:ext cx="5440680" cy="1234440"/>
          </a:xfrm>
          <a:prstGeom prst="roundRect">
            <a:avLst>
              <a:gd name="adj" fmla="val 740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13" name="Shape 11"/>
          <p:cNvSpPr/>
          <p:nvPr/>
        </p:nvSpPr>
        <p:spPr>
          <a:xfrm>
            <a:off x="777240" y="4754880"/>
            <a:ext cx="502920" cy="502920"/>
          </a:xfrm>
          <a:prstGeom prst="ellipse">
            <a:avLst/>
          </a:prstGeom>
          <a:solidFill>
            <a:srgbClr val="2563EB"/>
          </a:solidFill>
          <a:ln/>
        </p:spPr>
      </p:sp>
      <p:sp>
        <p:nvSpPr>
          <p:cNvPr id="14" name="Text 12"/>
          <p:cNvSpPr/>
          <p:nvPr/>
        </p:nvSpPr>
        <p:spPr>
          <a:xfrm>
            <a:off x="777240" y="4754880"/>
            <a:ext cx="502920" cy="50292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03</a:t>
            </a:r>
            <a:endParaRPr lang="en-US" sz="1300" dirty="0"/>
          </a:p>
        </p:txBody>
      </p:sp>
      <p:sp>
        <p:nvSpPr>
          <p:cNvPr id="15" name="Text 13"/>
          <p:cNvSpPr/>
          <p:nvPr/>
        </p:nvSpPr>
        <p:spPr>
          <a:xfrm>
            <a:off x="1463040" y="4636008"/>
            <a:ext cx="4297680" cy="1005840"/>
          </a:xfrm>
          <a:prstGeom prst="rect">
            <a:avLst/>
          </a:prstGeom>
          <a:noFill/>
          <a:ln/>
        </p:spPr>
        <p:txBody>
          <a:bodyPr wrap="square" lIns="0" tIns="0" rIns="0" bIns="0" rtlCol="0" anchor="ctr"/>
          <a:lstStyle/>
          <a:p>
            <a:pPr marL="0" indent="0">
              <a:lnSpc>
                <a:spcPct val="115000"/>
              </a:lnSpc>
              <a:buNone/>
            </a:pPr>
            <a:r>
              <a:rPr lang="en-US" sz="1250" dirty="0">
                <a:solidFill>
                  <a:srgbClr val="F8FAFC"/>
                </a:solidFill>
                <a:latin typeface="Calibri" pitchFamily="34" charset="0"/>
                <a:ea typeface="Calibri" pitchFamily="34" charset="-122"/>
                <a:cs typeface="Calibri" pitchFamily="34" charset="-120"/>
              </a:rPr>
              <a:t>Store historical resource data in a structured database for trend analysis</a:t>
            </a:r>
            <a:endParaRPr lang="en-US" sz="1250" dirty="0"/>
          </a:p>
        </p:txBody>
      </p:sp>
      <p:sp>
        <p:nvSpPr>
          <p:cNvPr id="16" name="Shape 14"/>
          <p:cNvSpPr/>
          <p:nvPr/>
        </p:nvSpPr>
        <p:spPr>
          <a:xfrm>
            <a:off x="6355080" y="1691640"/>
            <a:ext cx="5440680" cy="1234440"/>
          </a:xfrm>
          <a:prstGeom prst="roundRect">
            <a:avLst>
              <a:gd name="adj" fmla="val 740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17" name="Shape 15"/>
          <p:cNvSpPr/>
          <p:nvPr/>
        </p:nvSpPr>
        <p:spPr>
          <a:xfrm>
            <a:off x="6583680" y="1920240"/>
            <a:ext cx="502920" cy="502920"/>
          </a:xfrm>
          <a:prstGeom prst="ellipse">
            <a:avLst/>
          </a:prstGeom>
          <a:solidFill>
            <a:srgbClr val="2563EB"/>
          </a:solidFill>
          <a:ln/>
        </p:spPr>
      </p:sp>
      <p:sp>
        <p:nvSpPr>
          <p:cNvPr id="18" name="Text 16"/>
          <p:cNvSpPr/>
          <p:nvPr/>
        </p:nvSpPr>
        <p:spPr>
          <a:xfrm>
            <a:off x="6583680" y="1920240"/>
            <a:ext cx="502920" cy="50292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04</a:t>
            </a:r>
            <a:endParaRPr lang="en-US" sz="1300" dirty="0"/>
          </a:p>
        </p:txBody>
      </p:sp>
      <p:sp>
        <p:nvSpPr>
          <p:cNvPr id="19" name="Text 17"/>
          <p:cNvSpPr/>
          <p:nvPr/>
        </p:nvSpPr>
        <p:spPr>
          <a:xfrm>
            <a:off x="7269480" y="1801368"/>
            <a:ext cx="4297680" cy="1005840"/>
          </a:xfrm>
          <a:prstGeom prst="rect">
            <a:avLst/>
          </a:prstGeom>
          <a:noFill/>
          <a:ln/>
        </p:spPr>
        <p:txBody>
          <a:bodyPr wrap="square" lIns="0" tIns="0" rIns="0" bIns="0" rtlCol="0" anchor="ctr"/>
          <a:lstStyle/>
          <a:p>
            <a:pPr marL="0" indent="0">
              <a:lnSpc>
                <a:spcPct val="115000"/>
              </a:lnSpc>
              <a:buNone/>
            </a:pPr>
            <a:r>
              <a:rPr lang="en-US" sz="1250" dirty="0">
                <a:solidFill>
                  <a:srgbClr val="F8FAFC"/>
                </a:solidFill>
                <a:latin typeface="Calibri" pitchFamily="34" charset="0"/>
                <a:ea typeface="Calibri" pitchFamily="34" charset="-122"/>
                <a:cs typeface="Calibri" pitchFamily="34" charset="-120"/>
              </a:rPr>
              <a:t>Use AI as an enhancement layer to detect anomalies and predict future resource usage</a:t>
            </a:r>
            <a:endParaRPr lang="en-US" sz="1250" dirty="0"/>
          </a:p>
        </p:txBody>
      </p:sp>
      <p:sp>
        <p:nvSpPr>
          <p:cNvPr id="20" name="Shape 18"/>
          <p:cNvSpPr/>
          <p:nvPr/>
        </p:nvSpPr>
        <p:spPr>
          <a:xfrm>
            <a:off x="6355080" y="3108960"/>
            <a:ext cx="5440680" cy="1234440"/>
          </a:xfrm>
          <a:prstGeom prst="roundRect">
            <a:avLst>
              <a:gd name="adj" fmla="val 740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21" name="Shape 19"/>
          <p:cNvSpPr/>
          <p:nvPr/>
        </p:nvSpPr>
        <p:spPr>
          <a:xfrm>
            <a:off x="6583680" y="3337560"/>
            <a:ext cx="502920" cy="502920"/>
          </a:xfrm>
          <a:prstGeom prst="ellipse">
            <a:avLst/>
          </a:prstGeom>
          <a:solidFill>
            <a:srgbClr val="38BDF8"/>
          </a:solidFill>
          <a:ln/>
        </p:spPr>
      </p:sp>
      <p:sp>
        <p:nvSpPr>
          <p:cNvPr id="22" name="Text 20"/>
          <p:cNvSpPr/>
          <p:nvPr/>
        </p:nvSpPr>
        <p:spPr>
          <a:xfrm>
            <a:off x="6583680" y="3337560"/>
            <a:ext cx="502920" cy="5029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05</a:t>
            </a:r>
            <a:endParaRPr lang="en-US" sz="1300" dirty="0"/>
          </a:p>
        </p:txBody>
      </p:sp>
      <p:sp>
        <p:nvSpPr>
          <p:cNvPr id="23" name="Text 21"/>
          <p:cNvSpPr/>
          <p:nvPr/>
        </p:nvSpPr>
        <p:spPr>
          <a:xfrm>
            <a:off x="7269480" y="3218688"/>
            <a:ext cx="4297680" cy="1005840"/>
          </a:xfrm>
          <a:prstGeom prst="rect">
            <a:avLst/>
          </a:prstGeom>
          <a:noFill/>
          <a:ln/>
        </p:spPr>
        <p:txBody>
          <a:bodyPr wrap="square" lIns="0" tIns="0" rIns="0" bIns="0" rtlCol="0" anchor="ctr"/>
          <a:lstStyle/>
          <a:p>
            <a:pPr marL="0" indent="0">
              <a:lnSpc>
                <a:spcPct val="115000"/>
              </a:lnSpc>
              <a:buNone/>
            </a:pPr>
            <a:r>
              <a:rPr lang="en-US" sz="1250" dirty="0">
                <a:solidFill>
                  <a:srgbClr val="F8FAFC"/>
                </a:solidFill>
                <a:latin typeface="Calibri" pitchFamily="34" charset="0"/>
                <a:ea typeface="Calibri" pitchFamily="34" charset="-122"/>
                <a:cs typeface="Calibri" pitchFamily="34" charset="-120"/>
              </a:rPr>
              <a:t>Generate actionable optimization recommendations grounded in OS performance tuning</a:t>
            </a:r>
            <a:endParaRPr lang="en-US" sz="1250" dirty="0"/>
          </a:p>
        </p:txBody>
      </p:sp>
      <p:sp>
        <p:nvSpPr>
          <p:cNvPr id="24" name="Shape 22"/>
          <p:cNvSpPr/>
          <p:nvPr/>
        </p:nvSpPr>
        <p:spPr>
          <a:xfrm>
            <a:off x="6355080" y="4526280"/>
            <a:ext cx="5440680" cy="1234440"/>
          </a:xfrm>
          <a:prstGeom prst="roundRect">
            <a:avLst>
              <a:gd name="adj" fmla="val 740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25" name="Shape 23"/>
          <p:cNvSpPr/>
          <p:nvPr/>
        </p:nvSpPr>
        <p:spPr>
          <a:xfrm>
            <a:off x="6583680" y="4754880"/>
            <a:ext cx="502920" cy="502920"/>
          </a:xfrm>
          <a:prstGeom prst="ellipse">
            <a:avLst/>
          </a:prstGeom>
          <a:solidFill>
            <a:srgbClr val="38BDF8"/>
          </a:solidFill>
          <a:ln/>
        </p:spPr>
      </p:sp>
      <p:sp>
        <p:nvSpPr>
          <p:cNvPr id="26" name="Text 24"/>
          <p:cNvSpPr/>
          <p:nvPr/>
        </p:nvSpPr>
        <p:spPr>
          <a:xfrm>
            <a:off x="6583680" y="4754880"/>
            <a:ext cx="502920" cy="50292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06</a:t>
            </a:r>
            <a:endParaRPr lang="en-US" sz="1300" dirty="0"/>
          </a:p>
        </p:txBody>
      </p:sp>
      <p:sp>
        <p:nvSpPr>
          <p:cNvPr id="27" name="Text 25"/>
          <p:cNvSpPr/>
          <p:nvPr/>
        </p:nvSpPr>
        <p:spPr>
          <a:xfrm>
            <a:off x="7269480" y="4636008"/>
            <a:ext cx="4297680" cy="1005840"/>
          </a:xfrm>
          <a:prstGeom prst="rect">
            <a:avLst/>
          </a:prstGeom>
          <a:noFill/>
          <a:ln/>
        </p:spPr>
        <p:txBody>
          <a:bodyPr wrap="square" lIns="0" tIns="0" rIns="0" bIns="0" rtlCol="0" anchor="ctr"/>
          <a:lstStyle/>
          <a:p>
            <a:pPr marL="0" indent="0">
              <a:lnSpc>
                <a:spcPct val="115000"/>
              </a:lnSpc>
              <a:buNone/>
            </a:pPr>
            <a:r>
              <a:rPr lang="en-US" sz="1250" dirty="0">
                <a:solidFill>
                  <a:srgbClr val="F8FAFC"/>
                </a:solidFill>
                <a:latin typeface="Calibri" pitchFamily="34" charset="0"/>
                <a:ea typeface="Calibri" pitchFamily="34" charset="-122"/>
                <a:cs typeface="Calibri" pitchFamily="34" charset="-120"/>
              </a:rPr>
              <a:t>Present all data through an intuitive, real-time web dashboard</a:t>
            </a:r>
            <a:endParaRPr lang="en-US" sz="1250" dirty="0"/>
          </a:p>
        </p:txBody>
      </p:sp>
      <p:sp>
        <p:nvSpPr>
          <p:cNvPr id="28" name="Text 26"/>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29" name="Text 27"/>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05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Existing vs Proposed System</a:t>
            </a:r>
            <a:endParaRPr lang="en-US" sz="3000" dirty="0"/>
          </a:p>
        </p:txBody>
      </p:sp>
      <p:sp>
        <p:nvSpPr>
          <p:cNvPr id="4" name="Shape 2"/>
          <p:cNvSpPr/>
          <p:nvPr/>
        </p:nvSpPr>
        <p:spPr>
          <a:xfrm>
            <a:off x="548640" y="1691640"/>
            <a:ext cx="2377440" cy="566928"/>
          </a:xfrm>
          <a:prstGeom prst="rect">
            <a:avLst/>
          </a:prstGeom>
          <a:solidFill>
            <a:srgbClr val="2563EB"/>
          </a:solidFill>
          <a:ln w="9525">
            <a:solidFill>
              <a:srgbClr val="0F172A"/>
            </a:solidFill>
            <a:prstDash val="solid"/>
          </a:ln>
        </p:spPr>
      </p:sp>
      <p:sp>
        <p:nvSpPr>
          <p:cNvPr id="5" name="Text 3"/>
          <p:cNvSpPr/>
          <p:nvPr/>
        </p:nvSpPr>
        <p:spPr>
          <a:xfrm>
            <a:off x="685800" y="1691640"/>
            <a:ext cx="2103120" cy="566928"/>
          </a:xfrm>
          <a:prstGeom prst="rect">
            <a:avLst/>
          </a:prstGeom>
          <a:noFill/>
          <a:ln/>
        </p:spPr>
        <p:txBody>
          <a:bodyPr wrap="square" lIns="0" tIns="0" rIns="0" bIns="0" rtlCol="0" anchor="ctr"/>
          <a:lstStyle/>
          <a:p>
            <a:pPr marL="0" indent="0">
              <a:lnSpc>
                <a:spcPct val="105000"/>
              </a:lnSpc>
              <a:buNone/>
            </a:pPr>
            <a:r>
              <a:rPr lang="en-US" sz="1250" b="1" dirty="0">
                <a:solidFill>
                  <a:srgbClr val="F8FAFC"/>
                </a:solidFill>
                <a:latin typeface="Calibri" pitchFamily="34" charset="0"/>
                <a:ea typeface="Calibri" pitchFamily="34" charset="-122"/>
                <a:cs typeface="Calibri" pitchFamily="34" charset="-120"/>
              </a:rPr>
              <a:t>Aspect</a:t>
            </a:r>
            <a:endParaRPr lang="en-US" sz="1250" dirty="0"/>
          </a:p>
        </p:txBody>
      </p:sp>
      <p:sp>
        <p:nvSpPr>
          <p:cNvPr id="6" name="Shape 4"/>
          <p:cNvSpPr/>
          <p:nvPr/>
        </p:nvSpPr>
        <p:spPr>
          <a:xfrm>
            <a:off x="2926080" y="1691640"/>
            <a:ext cx="4343400" cy="566928"/>
          </a:xfrm>
          <a:prstGeom prst="rect">
            <a:avLst/>
          </a:prstGeom>
          <a:solidFill>
            <a:srgbClr val="2563EB"/>
          </a:solidFill>
          <a:ln w="9525">
            <a:solidFill>
              <a:srgbClr val="0F172A"/>
            </a:solidFill>
            <a:prstDash val="solid"/>
          </a:ln>
        </p:spPr>
      </p:sp>
      <p:sp>
        <p:nvSpPr>
          <p:cNvPr id="7" name="Text 5"/>
          <p:cNvSpPr/>
          <p:nvPr/>
        </p:nvSpPr>
        <p:spPr>
          <a:xfrm>
            <a:off x="3063240" y="1691640"/>
            <a:ext cx="4069080" cy="566928"/>
          </a:xfrm>
          <a:prstGeom prst="rect">
            <a:avLst/>
          </a:prstGeom>
          <a:noFill/>
          <a:ln/>
        </p:spPr>
        <p:txBody>
          <a:bodyPr wrap="square" lIns="0" tIns="0" rIns="0" bIns="0" rtlCol="0" anchor="ctr"/>
          <a:lstStyle/>
          <a:p>
            <a:pPr marL="0" indent="0">
              <a:lnSpc>
                <a:spcPct val="105000"/>
              </a:lnSpc>
              <a:buNone/>
            </a:pPr>
            <a:r>
              <a:rPr lang="en-US" sz="1250" b="1" dirty="0">
                <a:solidFill>
                  <a:srgbClr val="F8FAFC"/>
                </a:solidFill>
                <a:latin typeface="Calibri" pitchFamily="34" charset="0"/>
                <a:ea typeface="Calibri" pitchFamily="34" charset="-122"/>
                <a:cs typeface="Calibri" pitchFamily="34" charset="-120"/>
              </a:rPr>
              <a:t>Existing OS Tools</a:t>
            </a:r>
            <a:endParaRPr lang="en-US" sz="1250" dirty="0"/>
          </a:p>
          <a:p>
            <a:pPr marL="0" indent="0">
              <a:lnSpc>
                <a:spcPct val="105000"/>
              </a:lnSpc>
              <a:buNone/>
            </a:pPr>
            <a:r>
              <a:rPr lang="en-US" sz="1250" b="1" dirty="0">
                <a:solidFill>
                  <a:srgbClr val="F8FAFC"/>
                </a:solidFill>
                <a:latin typeface="Calibri" pitchFamily="34" charset="0"/>
                <a:ea typeface="Calibri" pitchFamily="34" charset="-122"/>
                <a:cs typeface="Calibri" pitchFamily="34" charset="-120"/>
              </a:rPr>
              <a:t>(Task Manager / top / htop)</a:t>
            </a:r>
            <a:endParaRPr lang="en-US" sz="1250" dirty="0"/>
          </a:p>
        </p:txBody>
      </p:sp>
      <p:sp>
        <p:nvSpPr>
          <p:cNvPr id="8" name="Shape 6"/>
          <p:cNvSpPr/>
          <p:nvPr/>
        </p:nvSpPr>
        <p:spPr>
          <a:xfrm>
            <a:off x="7269480" y="1691640"/>
            <a:ext cx="4343400" cy="566928"/>
          </a:xfrm>
          <a:prstGeom prst="rect">
            <a:avLst/>
          </a:prstGeom>
          <a:solidFill>
            <a:srgbClr val="2563EB"/>
          </a:solidFill>
          <a:ln w="9525">
            <a:solidFill>
              <a:srgbClr val="0F172A"/>
            </a:solidFill>
            <a:prstDash val="solid"/>
          </a:ln>
        </p:spPr>
      </p:sp>
      <p:sp>
        <p:nvSpPr>
          <p:cNvPr id="9" name="Text 7"/>
          <p:cNvSpPr/>
          <p:nvPr/>
        </p:nvSpPr>
        <p:spPr>
          <a:xfrm>
            <a:off x="7406640" y="1691640"/>
            <a:ext cx="4069080" cy="566928"/>
          </a:xfrm>
          <a:prstGeom prst="rect">
            <a:avLst/>
          </a:prstGeom>
          <a:noFill/>
          <a:ln/>
        </p:spPr>
        <p:txBody>
          <a:bodyPr wrap="square" lIns="0" tIns="0" rIns="0" bIns="0" rtlCol="0" anchor="ctr"/>
          <a:lstStyle/>
          <a:p>
            <a:pPr marL="0" indent="0">
              <a:lnSpc>
                <a:spcPct val="105000"/>
              </a:lnSpc>
              <a:buNone/>
            </a:pPr>
            <a:r>
              <a:rPr lang="en-US" sz="1250" b="1" dirty="0">
                <a:solidFill>
                  <a:srgbClr val="F8FAFC"/>
                </a:solidFill>
                <a:latin typeface="Calibri" pitchFamily="34" charset="0"/>
                <a:ea typeface="Calibri" pitchFamily="34" charset="-122"/>
                <a:cs typeface="Calibri" pitchFamily="34" charset="-120"/>
              </a:rPr>
              <a:t>Proposed System</a:t>
            </a:r>
            <a:endParaRPr lang="en-US" sz="1250" dirty="0"/>
          </a:p>
        </p:txBody>
      </p:sp>
      <p:sp>
        <p:nvSpPr>
          <p:cNvPr id="10" name="Shape 8"/>
          <p:cNvSpPr/>
          <p:nvPr/>
        </p:nvSpPr>
        <p:spPr>
          <a:xfrm>
            <a:off x="548640" y="2258568"/>
            <a:ext cx="2377440" cy="566928"/>
          </a:xfrm>
          <a:prstGeom prst="rect">
            <a:avLst/>
          </a:prstGeom>
          <a:solidFill>
            <a:srgbClr val="24304A"/>
          </a:solidFill>
          <a:ln w="9525">
            <a:solidFill>
              <a:srgbClr val="0F172A"/>
            </a:solidFill>
            <a:prstDash val="solid"/>
          </a:ln>
        </p:spPr>
      </p:sp>
      <p:sp>
        <p:nvSpPr>
          <p:cNvPr id="11" name="Text 9"/>
          <p:cNvSpPr/>
          <p:nvPr/>
        </p:nvSpPr>
        <p:spPr>
          <a:xfrm>
            <a:off x="685800" y="2258568"/>
            <a:ext cx="2103120" cy="566928"/>
          </a:xfrm>
          <a:prstGeom prst="rect">
            <a:avLst/>
          </a:prstGeom>
          <a:noFill/>
          <a:ln/>
        </p:spPr>
        <p:txBody>
          <a:bodyPr wrap="square" lIns="0" tIns="0" rIns="0" bIns="0" rtlCol="0" anchor="ctr"/>
          <a:lstStyle/>
          <a:p>
            <a:pPr marL="0" indent="0">
              <a:lnSpc>
                <a:spcPct val="105000"/>
              </a:lnSpc>
              <a:buNone/>
            </a:pPr>
            <a:r>
              <a:rPr lang="en-US" sz="1200" b="1" dirty="0">
                <a:solidFill>
                  <a:srgbClr val="F8FAFC"/>
                </a:solidFill>
                <a:latin typeface="Calibri" pitchFamily="34" charset="0"/>
                <a:ea typeface="Calibri" pitchFamily="34" charset="-122"/>
                <a:cs typeface="Calibri" pitchFamily="34" charset="-120"/>
              </a:rPr>
              <a:t>Monitoring</a:t>
            </a:r>
            <a:endParaRPr lang="en-US" sz="1200" dirty="0"/>
          </a:p>
        </p:txBody>
      </p:sp>
      <p:sp>
        <p:nvSpPr>
          <p:cNvPr id="12" name="Shape 10"/>
          <p:cNvSpPr/>
          <p:nvPr/>
        </p:nvSpPr>
        <p:spPr>
          <a:xfrm>
            <a:off x="2926080" y="2258568"/>
            <a:ext cx="4343400" cy="566928"/>
          </a:xfrm>
          <a:prstGeom prst="rect">
            <a:avLst/>
          </a:prstGeom>
          <a:solidFill>
            <a:srgbClr val="24304A"/>
          </a:solidFill>
          <a:ln w="9525">
            <a:solidFill>
              <a:srgbClr val="0F172A"/>
            </a:solidFill>
            <a:prstDash val="solid"/>
          </a:ln>
        </p:spPr>
      </p:sp>
      <p:sp>
        <p:nvSpPr>
          <p:cNvPr id="13" name="Text 11"/>
          <p:cNvSpPr/>
          <p:nvPr/>
        </p:nvSpPr>
        <p:spPr>
          <a:xfrm>
            <a:off x="3063240" y="2258568"/>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F8FAFC"/>
                </a:solidFill>
                <a:latin typeface="Calibri" pitchFamily="34" charset="0"/>
                <a:ea typeface="Calibri" pitchFamily="34" charset="-122"/>
                <a:cs typeface="Calibri" pitchFamily="34" charset="-120"/>
              </a:rPr>
              <a:t>Live snapshot only</a:t>
            </a:r>
            <a:endParaRPr lang="en-US" sz="1200" dirty="0"/>
          </a:p>
        </p:txBody>
      </p:sp>
      <p:sp>
        <p:nvSpPr>
          <p:cNvPr id="14" name="Shape 12"/>
          <p:cNvSpPr/>
          <p:nvPr/>
        </p:nvSpPr>
        <p:spPr>
          <a:xfrm>
            <a:off x="7269480" y="2258568"/>
            <a:ext cx="4343400" cy="566928"/>
          </a:xfrm>
          <a:prstGeom prst="rect">
            <a:avLst/>
          </a:prstGeom>
          <a:solidFill>
            <a:srgbClr val="24304A"/>
          </a:solidFill>
          <a:ln w="9525">
            <a:solidFill>
              <a:srgbClr val="0F172A"/>
            </a:solidFill>
            <a:prstDash val="solid"/>
          </a:ln>
        </p:spPr>
      </p:sp>
      <p:sp>
        <p:nvSpPr>
          <p:cNvPr id="15" name="Text 13"/>
          <p:cNvSpPr/>
          <p:nvPr/>
        </p:nvSpPr>
        <p:spPr>
          <a:xfrm>
            <a:off x="7406640" y="2258568"/>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22C55E"/>
                </a:solidFill>
                <a:latin typeface="Calibri" pitchFamily="34" charset="0"/>
                <a:ea typeface="Calibri" pitchFamily="34" charset="-122"/>
                <a:cs typeface="Calibri" pitchFamily="34" charset="-120"/>
              </a:rPr>
              <a:t>Continuous, real-time, web-based</a:t>
            </a:r>
            <a:endParaRPr lang="en-US" sz="1200" dirty="0"/>
          </a:p>
        </p:txBody>
      </p:sp>
      <p:sp>
        <p:nvSpPr>
          <p:cNvPr id="16" name="Shape 14"/>
          <p:cNvSpPr/>
          <p:nvPr/>
        </p:nvSpPr>
        <p:spPr>
          <a:xfrm>
            <a:off x="548640" y="2825496"/>
            <a:ext cx="2377440" cy="566928"/>
          </a:xfrm>
          <a:prstGeom prst="rect">
            <a:avLst/>
          </a:prstGeom>
          <a:solidFill>
            <a:srgbClr val="1E293B"/>
          </a:solidFill>
          <a:ln w="9525">
            <a:solidFill>
              <a:srgbClr val="0F172A"/>
            </a:solidFill>
            <a:prstDash val="solid"/>
          </a:ln>
        </p:spPr>
      </p:sp>
      <p:sp>
        <p:nvSpPr>
          <p:cNvPr id="17" name="Text 15"/>
          <p:cNvSpPr/>
          <p:nvPr/>
        </p:nvSpPr>
        <p:spPr>
          <a:xfrm>
            <a:off x="685800" y="2825496"/>
            <a:ext cx="2103120" cy="566928"/>
          </a:xfrm>
          <a:prstGeom prst="rect">
            <a:avLst/>
          </a:prstGeom>
          <a:noFill/>
          <a:ln/>
        </p:spPr>
        <p:txBody>
          <a:bodyPr wrap="square" lIns="0" tIns="0" rIns="0" bIns="0" rtlCol="0" anchor="ctr"/>
          <a:lstStyle/>
          <a:p>
            <a:pPr marL="0" indent="0">
              <a:lnSpc>
                <a:spcPct val="105000"/>
              </a:lnSpc>
              <a:buNone/>
            </a:pPr>
            <a:r>
              <a:rPr lang="en-US" sz="1200" b="1" dirty="0">
                <a:solidFill>
                  <a:srgbClr val="F8FAFC"/>
                </a:solidFill>
                <a:latin typeface="Calibri" pitchFamily="34" charset="0"/>
                <a:ea typeface="Calibri" pitchFamily="34" charset="-122"/>
                <a:cs typeface="Calibri" pitchFamily="34" charset="-120"/>
              </a:rPr>
              <a:t>Historical Data</a:t>
            </a:r>
            <a:endParaRPr lang="en-US" sz="1200" dirty="0"/>
          </a:p>
        </p:txBody>
      </p:sp>
      <p:sp>
        <p:nvSpPr>
          <p:cNvPr id="18" name="Shape 16"/>
          <p:cNvSpPr/>
          <p:nvPr/>
        </p:nvSpPr>
        <p:spPr>
          <a:xfrm>
            <a:off x="2926080" y="2825496"/>
            <a:ext cx="4343400" cy="566928"/>
          </a:xfrm>
          <a:prstGeom prst="rect">
            <a:avLst/>
          </a:prstGeom>
          <a:solidFill>
            <a:srgbClr val="1E293B"/>
          </a:solidFill>
          <a:ln w="9525">
            <a:solidFill>
              <a:srgbClr val="0F172A"/>
            </a:solidFill>
            <a:prstDash val="solid"/>
          </a:ln>
        </p:spPr>
      </p:sp>
      <p:sp>
        <p:nvSpPr>
          <p:cNvPr id="19" name="Text 17"/>
          <p:cNvSpPr/>
          <p:nvPr/>
        </p:nvSpPr>
        <p:spPr>
          <a:xfrm>
            <a:off x="3063240" y="2825496"/>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F8FAFC"/>
                </a:solidFill>
                <a:latin typeface="Calibri" pitchFamily="34" charset="0"/>
                <a:ea typeface="Calibri" pitchFamily="34" charset="-122"/>
                <a:cs typeface="Calibri" pitchFamily="34" charset="-120"/>
              </a:rPr>
              <a:t>Not stored</a:t>
            </a:r>
            <a:endParaRPr lang="en-US" sz="1200" dirty="0"/>
          </a:p>
        </p:txBody>
      </p:sp>
      <p:sp>
        <p:nvSpPr>
          <p:cNvPr id="20" name="Shape 18"/>
          <p:cNvSpPr/>
          <p:nvPr/>
        </p:nvSpPr>
        <p:spPr>
          <a:xfrm>
            <a:off x="7269480" y="2825496"/>
            <a:ext cx="4343400" cy="566928"/>
          </a:xfrm>
          <a:prstGeom prst="rect">
            <a:avLst/>
          </a:prstGeom>
          <a:solidFill>
            <a:srgbClr val="1E293B"/>
          </a:solidFill>
          <a:ln w="9525">
            <a:solidFill>
              <a:srgbClr val="0F172A"/>
            </a:solidFill>
            <a:prstDash val="solid"/>
          </a:ln>
        </p:spPr>
      </p:sp>
      <p:sp>
        <p:nvSpPr>
          <p:cNvPr id="21" name="Text 19"/>
          <p:cNvSpPr/>
          <p:nvPr/>
        </p:nvSpPr>
        <p:spPr>
          <a:xfrm>
            <a:off x="7406640" y="2825496"/>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22C55E"/>
                </a:solidFill>
                <a:latin typeface="Calibri" pitchFamily="34" charset="0"/>
                <a:ea typeface="Calibri" pitchFamily="34" charset="-122"/>
                <a:cs typeface="Calibri" pitchFamily="34" charset="-120"/>
              </a:rPr>
              <a:t>Stored for trend analysis</a:t>
            </a:r>
            <a:endParaRPr lang="en-US" sz="1200" dirty="0"/>
          </a:p>
        </p:txBody>
      </p:sp>
      <p:sp>
        <p:nvSpPr>
          <p:cNvPr id="22" name="Shape 20"/>
          <p:cNvSpPr/>
          <p:nvPr/>
        </p:nvSpPr>
        <p:spPr>
          <a:xfrm>
            <a:off x="548640" y="3392424"/>
            <a:ext cx="2377440" cy="566928"/>
          </a:xfrm>
          <a:prstGeom prst="rect">
            <a:avLst/>
          </a:prstGeom>
          <a:solidFill>
            <a:srgbClr val="24304A"/>
          </a:solidFill>
          <a:ln w="9525">
            <a:solidFill>
              <a:srgbClr val="0F172A"/>
            </a:solidFill>
            <a:prstDash val="solid"/>
          </a:ln>
        </p:spPr>
      </p:sp>
      <p:sp>
        <p:nvSpPr>
          <p:cNvPr id="23" name="Text 21"/>
          <p:cNvSpPr/>
          <p:nvPr/>
        </p:nvSpPr>
        <p:spPr>
          <a:xfrm>
            <a:off x="685800" y="3392424"/>
            <a:ext cx="2103120" cy="566928"/>
          </a:xfrm>
          <a:prstGeom prst="rect">
            <a:avLst/>
          </a:prstGeom>
          <a:noFill/>
          <a:ln/>
        </p:spPr>
        <p:txBody>
          <a:bodyPr wrap="square" lIns="0" tIns="0" rIns="0" bIns="0" rtlCol="0" anchor="ctr"/>
          <a:lstStyle/>
          <a:p>
            <a:pPr marL="0" indent="0">
              <a:lnSpc>
                <a:spcPct val="105000"/>
              </a:lnSpc>
              <a:buNone/>
            </a:pPr>
            <a:r>
              <a:rPr lang="en-US" sz="1200" b="1" dirty="0">
                <a:solidFill>
                  <a:srgbClr val="F8FAFC"/>
                </a:solidFill>
                <a:latin typeface="Calibri" pitchFamily="34" charset="0"/>
                <a:ea typeface="Calibri" pitchFamily="34" charset="-122"/>
                <a:cs typeface="Calibri" pitchFamily="34" charset="-120"/>
              </a:rPr>
              <a:t>Prediction</a:t>
            </a:r>
            <a:endParaRPr lang="en-US" sz="1200" dirty="0"/>
          </a:p>
        </p:txBody>
      </p:sp>
      <p:sp>
        <p:nvSpPr>
          <p:cNvPr id="24" name="Shape 22"/>
          <p:cNvSpPr/>
          <p:nvPr/>
        </p:nvSpPr>
        <p:spPr>
          <a:xfrm>
            <a:off x="2926080" y="3392424"/>
            <a:ext cx="4343400" cy="566928"/>
          </a:xfrm>
          <a:prstGeom prst="rect">
            <a:avLst/>
          </a:prstGeom>
          <a:solidFill>
            <a:srgbClr val="24304A"/>
          </a:solidFill>
          <a:ln w="9525">
            <a:solidFill>
              <a:srgbClr val="0F172A"/>
            </a:solidFill>
            <a:prstDash val="solid"/>
          </a:ln>
        </p:spPr>
      </p:sp>
      <p:sp>
        <p:nvSpPr>
          <p:cNvPr id="25" name="Text 23"/>
          <p:cNvSpPr/>
          <p:nvPr/>
        </p:nvSpPr>
        <p:spPr>
          <a:xfrm>
            <a:off x="3063240" y="3392424"/>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F8FAFC"/>
                </a:solidFill>
                <a:latin typeface="Calibri" pitchFamily="34" charset="0"/>
                <a:ea typeface="Calibri" pitchFamily="34" charset="-122"/>
                <a:cs typeface="Calibri" pitchFamily="34" charset="-120"/>
              </a:rPr>
              <a:t>None</a:t>
            </a:r>
            <a:endParaRPr lang="en-US" sz="1200" dirty="0"/>
          </a:p>
        </p:txBody>
      </p:sp>
      <p:sp>
        <p:nvSpPr>
          <p:cNvPr id="26" name="Shape 24"/>
          <p:cNvSpPr/>
          <p:nvPr/>
        </p:nvSpPr>
        <p:spPr>
          <a:xfrm>
            <a:off x="7269480" y="3392424"/>
            <a:ext cx="4343400" cy="566928"/>
          </a:xfrm>
          <a:prstGeom prst="rect">
            <a:avLst/>
          </a:prstGeom>
          <a:solidFill>
            <a:srgbClr val="24304A"/>
          </a:solidFill>
          <a:ln w="9525">
            <a:solidFill>
              <a:srgbClr val="0F172A"/>
            </a:solidFill>
            <a:prstDash val="solid"/>
          </a:ln>
        </p:spPr>
      </p:sp>
      <p:sp>
        <p:nvSpPr>
          <p:cNvPr id="27" name="Text 25"/>
          <p:cNvSpPr/>
          <p:nvPr/>
        </p:nvSpPr>
        <p:spPr>
          <a:xfrm>
            <a:off x="7406640" y="3392424"/>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22C55E"/>
                </a:solidFill>
                <a:latin typeface="Calibri" pitchFamily="34" charset="0"/>
                <a:ea typeface="Calibri" pitchFamily="34" charset="-122"/>
                <a:cs typeface="Calibri" pitchFamily="34" charset="-120"/>
              </a:rPr>
              <a:t>AI-based usage forecasting</a:t>
            </a:r>
            <a:endParaRPr lang="en-US" sz="1200" dirty="0"/>
          </a:p>
        </p:txBody>
      </p:sp>
      <p:sp>
        <p:nvSpPr>
          <p:cNvPr id="28" name="Shape 26"/>
          <p:cNvSpPr/>
          <p:nvPr/>
        </p:nvSpPr>
        <p:spPr>
          <a:xfrm>
            <a:off x="548640" y="3959352"/>
            <a:ext cx="2377440" cy="566928"/>
          </a:xfrm>
          <a:prstGeom prst="rect">
            <a:avLst/>
          </a:prstGeom>
          <a:solidFill>
            <a:srgbClr val="1E293B"/>
          </a:solidFill>
          <a:ln w="9525">
            <a:solidFill>
              <a:srgbClr val="0F172A"/>
            </a:solidFill>
            <a:prstDash val="solid"/>
          </a:ln>
        </p:spPr>
      </p:sp>
      <p:sp>
        <p:nvSpPr>
          <p:cNvPr id="29" name="Text 27"/>
          <p:cNvSpPr/>
          <p:nvPr/>
        </p:nvSpPr>
        <p:spPr>
          <a:xfrm>
            <a:off x="685800" y="3959352"/>
            <a:ext cx="2103120" cy="566928"/>
          </a:xfrm>
          <a:prstGeom prst="rect">
            <a:avLst/>
          </a:prstGeom>
          <a:noFill/>
          <a:ln/>
        </p:spPr>
        <p:txBody>
          <a:bodyPr wrap="square" lIns="0" tIns="0" rIns="0" bIns="0" rtlCol="0" anchor="ctr"/>
          <a:lstStyle/>
          <a:p>
            <a:pPr marL="0" indent="0">
              <a:lnSpc>
                <a:spcPct val="105000"/>
              </a:lnSpc>
              <a:buNone/>
            </a:pPr>
            <a:r>
              <a:rPr lang="en-US" sz="1200" b="1" dirty="0">
                <a:solidFill>
                  <a:srgbClr val="F8FAFC"/>
                </a:solidFill>
                <a:latin typeface="Calibri" pitchFamily="34" charset="0"/>
                <a:ea typeface="Calibri" pitchFamily="34" charset="-122"/>
                <a:cs typeface="Calibri" pitchFamily="34" charset="-120"/>
              </a:rPr>
              <a:t>Anomaly Detection</a:t>
            </a:r>
            <a:endParaRPr lang="en-US" sz="1200" dirty="0"/>
          </a:p>
        </p:txBody>
      </p:sp>
      <p:sp>
        <p:nvSpPr>
          <p:cNvPr id="30" name="Shape 28"/>
          <p:cNvSpPr/>
          <p:nvPr/>
        </p:nvSpPr>
        <p:spPr>
          <a:xfrm>
            <a:off x="2926080" y="3959352"/>
            <a:ext cx="4343400" cy="566928"/>
          </a:xfrm>
          <a:prstGeom prst="rect">
            <a:avLst/>
          </a:prstGeom>
          <a:solidFill>
            <a:srgbClr val="1E293B"/>
          </a:solidFill>
          <a:ln w="9525">
            <a:solidFill>
              <a:srgbClr val="0F172A"/>
            </a:solidFill>
            <a:prstDash val="solid"/>
          </a:ln>
        </p:spPr>
      </p:sp>
      <p:sp>
        <p:nvSpPr>
          <p:cNvPr id="31" name="Text 29"/>
          <p:cNvSpPr/>
          <p:nvPr/>
        </p:nvSpPr>
        <p:spPr>
          <a:xfrm>
            <a:off x="3063240" y="3959352"/>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F8FAFC"/>
                </a:solidFill>
                <a:latin typeface="Calibri" pitchFamily="34" charset="0"/>
                <a:ea typeface="Calibri" pitchFamily="34" charset="-122"/>
                <a:cs typeface="Calibri" pitchFamily="34" charset="-120"/>
              </a:rPr>
              <a:t>Manual observation</a:t>
            </a:r>
            <a:endParaRPr lang="en-US" sz="1200" dirty="0"/>
          </a:p>
        </p:txBody>
      </p:sp>
      <p:sp>
        <p:nvSpPr>
          <p:cNvPr id="32" name="Shape 30"/>
          <p:cNvSpPr/>
          <p:nvPr/>
        </p:nvSpPr>
        <p:spPr>
          <a:xfrm>
            <a:off x="7269480" y="3959352"/>
            <a:ext cx="4343400" cy="566928"/>
          </a:xfrm>
          <a:prstGeom prst="rect">
            <a:avLst/>
          </a:prstGeom>
          <a:solidFill>
            <a:srgbClr val="1E293B"/>
          </a:solidFill>
          <a:ln w="9525">
            <a:solidFill>
              <a:srgbClr val="0F172A"/>
            </a:solidFill>
            <a:prstDash val="solid"/>
          </a:ln>
        </p:spPr>
      </p:sp>
      <p:sp>
        <p:nvSpPr>
          <p:cNvPr id="33" name="Text 31"/>
          <p:cNvSpPr/>
          <p:nvPr/>
        </p:nvSpPr>
        <p:spPr>
          <a:xfrm>
            <a:off x="7406640" y="3959352"/>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22C55E"/>
                </a:solidFill>
                <a:latin typeface="Calibri" pitchFamily="34" charset="0"/>
                <a:ea typeface="Calibri" pitchFamily="34" charset="-122"/>
                <a:cs typeface="Calibri" pitchFamily="34" charset="-120"/>
              </a:rPr>
              <a:t>Automated detection</a:t>
            </a:r>
            <a:endParaRPr lang="en-US" sz="1200" dirty="0"/>
          </a:p>
        </p:txBody>
      </p:sp>
      <p:sp>
        <p:nvSpPr>
          <p:cNvPr id="34" name="Shape 32"/>
          <p:cNvSpPr/>
          <p:nvPr/>
        </p:nvSpPr>
        <p:spPr>
          <a:xfrm>
            <a:off x="548640" y="4526280"/>
            <a:ext cx="2377440" cy="566928"/>
          </a:xfrm>
          <a:prstGeom prst="rect">
            <a:avLst/>
          </a:prstGeom>
          <a:solidFill>
            <a:srgbClr val="24304A"/>
          </a:solidFill>
          <a:ln w="9525">
            <a:solidFill>
              <a:srgbClr val="0F172A"/>
            </a:solidFill>
            <a:prstDash val="solid"/>
          </a:ln>
        </p:spPr>
      </p:sp>
      <p:sp>
        <p:nvSpPr>
          <p:cNvPr id="35" name="Text 33"/>
          <p:cNvSpPr/>
          <p:nvPr/>
        </p:nvSpPr>
        <p:spPr>
          <a:xfrm>
            <a:off x="685800" y="4526280"/>
            <a:ext cx="2103120" cy="566928"/>
          </a:xfrm>
          <a:prstGeom prst="rect">
            <a:avLst/>
          </a:prstGeom>
          <a:noFill/>
          <a:ln/>
        </p:spPr>
        <p:txBody>
          <a:bodyPr wrap="square" lIns="0" tIns="0" rIns="0" bIns="0" rtlCol="0" anchor="ctr"/>
          <a:lstStyle/>
          <a:p>
            <a:pPr marL="0" indent="0">
              <a:lnSpc>
                <a:spcPct val="105000"/>
              </a:lnSpc>
              <a:buNone/>
            </a:pPr>
            <a:r>
              <a:rPr lang="en-US" sz="1200" b="1" dirty="0">
                <a:solidFill>
                  <a:srgbClr val="F8FAFC"/>
                </a:solidFill>
                <a:latin typeface="Calibri" pitchFamily="34" charset="0"/>
                <a:ea typeface="Calibri" pitchFamily="34" charset="-122"/>
                <a:cs typeface="Calibri" pitchFamily="34" charset="-120"/>
              </a:rPr>
              <a:t>Recommendations</a:t>
            </a:r>
            <a:endParaRPr lang="en-US" sz="1200" dirty="0"/>
          </a:p>
        </p:txBody>
      </p:sp>
      <p:sp>
        <p:nvSpPr>
          <p:cNvPr id="36" name="Shape 34"/>
          <p:cNvSpPr/>
          <p:nvPr/>
        </p:nvSpPr>
        <p:spPr>
          <a:xfrm>
            <a:off x="2926080" y="4526280"/>
            <a:ext cx="4343400" cy="566928"/>
          </a:xfrm>
          <a:prstGeom prst="rect">
            <a:avLst/>
          </a:prstGeom>
          <a:solidFill>
            <a:srgbClr val="24304A"/>
          </a:solidFill>
          <a:ln w="9525">
            <a:solidFill>
              <a:srgbClr val="0F172A"/>
            </a:solidFill>
            <a:prstDash val="solid"/>
          </a:ln>
        </p:spPr>
      </p:sp>
      <p:sp>
        <p:nvSpPr>
          <p:cNvPr id="37" name="Text 35"/>
          <p:cNvSpPr/>
          <p:nvPr/>
        </p:nvSpPr>
        <p:spPr>
          <a:xfrm>
            <a:off x="3063240" y="4526280"/>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F8FAFC"/>
                </a:solidFill>
                <a:latin typeface="Calibri" pitchFamily="34" charset="0"/>
                <a:ea typeface="Calibri" pitchFamily="34" charset="-122"/>
                <a:cs typeface="Calibri" pitchFamily="34" charset="-120"/>
              </a:rPr>
              <a:t>None</a:t>
            </a:r>
            <a:endParaRPr lang="en-US" sz="1200" dirty="0"/>
          </a:p>
        </p:txBody>
      </p:sp>
      <p:sp>
        <p:nvSpPr>
          <p:cNvPr id="38" name="Shape 36"/>
          <p:cNvSpPr/>
          <p:nvPr/>
        </p:nvSpPr>
        <p:spPr>
          <a:xfrm>
            <a:off x="7269480" y="4526280"/>
            <a:ext cx="4343400" cy="566928"/>
          </a:xfrm>
          <a:prstGeom prst="rect">
            <a:avLst/>
          </a:prstGeom>
          <a:solidFill>
            <a:srgbClr val="24304A"/>
          </a:solidFill>
          <a:ln w="9525">
            <a:solidFill>
              <a:srgbClr val="0F172A"/>
            </a:solidFill>
            <a:prstDash val="solid"/>
          </a:ln>
        </p:spPr>
      </p:sp>
      <p:sp>
        <p:nvSpPr>
          <p:cNvPr id="39" name="Text 37"/>
          <p:cNvSpPr/>
          <p:nvPr/>
        </p:nvSpPr>
        <p:spPr>
          <a:xfrm>
            <a:off x="7406640" y="4526280"/>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22C55E"/>
                </a:solidFill>
                <a:latin typeface="Calibri" pitchFamily="34" charset="0"/>
                <a:ea typeface="Calibri" pitchFamily="34" charset="-122"/>
                <a:cs typeface="Calibri" pitchFamily="34" charset="-120"/>
              </a:rPr>
              <a:t>OS-tuning suggestions generated</a:t>
            </a:r>
            <a:endParaRPr lang="en-US" sz="1200" dirty="0"/>
          </a:p>
        </p:txBody>
      </p:sp>
      <p:sp>
        <p:nvSpPr>
          <p:cNvPr id="40" name="Shape 38"/>
          <p:cNvSpPr/>
          <p:nvPr/>
        </p:nvSpPr>
        <p:spPr>
          <a:xfrm>
            <a:off x="548640" y="5093208"/>
            <a:ext cx="2377440" cy="566928"/>
          </a:xfrm>
          <a:prstGeom prst="rect">
            <a:avLst/>
          </a:prstGeom>
          <a:solidFill>
            <a:srgbClr val="1E293B"/>
          </a:solidFill>
          <a:ln w="9525">
            <a:solidFill>
              <a:srgbClr val="0F172A"/>
            </a:solidFill>
            <a:prstDash val="solid"/>
          </a:ln>
        </p:spPr>
      </p:sp>
      <p:sp>
        <p:nvSpPr>
          <p:cNvPr id="41" name="Text 39"/>
          <p:cNvSpPr/>
          <p:nvPr/>
        </p:nvSpPr>
        <p:spPr>
          <a:xfrm>
            <a:off x="685800" y="5093208"/>
            <a:ext cx="2103120" cy="566928"/>
          </a:xfrm>
          <a:prstGeom prst="rect">
            <a:avLst/>
          </a:prstGeom>
          <a:noFill/>
          <a:ln/>
        </p:spPr>
        <p:txBody>
          <a:bodyPr wrap="square" lIns="0" tIns="0" rIns="0" bIns="0" rtlCol="0" anchor="ctr"/>
          <a:lstStyle/>
          <a:p>
            <a:pPr marL="0" indent="0">
              <a:lnSpc>
                <a:spcPct val="105000"/>
              </a:lnSpc>
              <a:buNone/>
            </a:pPr>
            <a:r>
              <a:rPr lang="en-US" sz="1200" b="1" dirty="0">
                <a:solidFill>
                  <a:srgbClr val="F8FAFC"/>
                </a:solidFill>
                <a:latin typeface="Calibri" pitchFamily="34" charset="0"/>
                <a:ea typeface="Calibri" pitchFamily="34" charset="-122"/>
                <a:cs typeface="Calibri" pitchFamily="34" charset="-120"/>
              </a:rPr>
              <a:t>Accessibility</a:t>
            </a:r>
            <a:endParaRPr lang="en-US" sz="1200" dirty="0"/>
          </a:p>
        </p:txBody>
      </p:sp>
      <p:sp>
        <p:nvSpPr>
          <p:cNvPr id="42" name="Shape 40"/>
          <p:cNvSpPr/>
          <p:nvPr/>
        </p:nvSpPr>
        <p:spPr>
          <a:xfrm>
            <a:off x="2926080" y="5093208"/>
            <a:ext cx="4343400" cy="566928"/>
          </a:xfrm>
          <a:prstGeom prst="rect">
            <a:avLst/>
          </a:prstGeom>
          <a:solidFill>
            <a:srgbClr val="1E293B"/>
          </a:solidFill>
          <a:ln w="9525">
            <a:solidFill>
              <a:srgbClr val="0F172A"/>
            </a:solidFill>
            <a:prstDash val="solid"/>
          </a:ln>
        </p:spPr>
      </p:sp>
      <p:sp>
        <p:nvSpPr>
          <p:cNvPr id="43" name="Text 41"/>
          <p:cNvSpPr/>
          <p:nvPr/>
        </p:nvSpPr>
        <p:spPr>
          <a:xfrm>
            <a:off x="3063240" y="5093208"/>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F8FAFC"/>
                </a:solidFill>
                <a:latin typeface="Calibri" pitchFamily="34" charset="0"/>
                <a:ea typeface="Calibri" pitchFamily="34" charset="-122"/>
                <a:cs typeface="Calibri" pitchFamily="34" charset="-120"/>
              </a:rPr>
              <a:t>Local desktop only</a:t>
            </a:r>
            <a:endParaRPr lang="en-US" sz="1200" dirty="0"/>
          </a:p>
        </p:txBody>
      </p:sp>
      <p:sp>
        <p:nvSpPr>
          <p:cNvPr id="44" name="Shape 42"/>
          <p:cNvSpPr/>
          <p:nvPr/>
        </p:nvSpPr>
        <p:spPr>
          <a:xfrm>
            <a:off x="7269480" y="5093208"/>
            <a:ext cx="4343400" cy="566928"/>
          </a:xfrm>
          <a:prstGeom prst="rect">
            <a:avLst/>
          </a:prstGeom>
          <a:solidFill>
            <a:srgbClr val="1E293B"/>
          </a:solidFill>
          <a:ln w="9525">
            <a:solidFill>
              <a:srgbClr val="0F172A"/>
            </a:solidFill>
            <a:prstDash val="solid"/>
          </a:ln>
        </p:spPr>
      </p:sp>
      <p:sp>
        <p:nvSpPr>
          <p:cNvPr id="45" name="Text 43"/>
          <p:cNvSpPr/>
          <p:nvPr/>
        </p:nvSpPr>
        <p:spPr>
          <a:xfrm>
            <a:off x="7406640" y="5093208"/>
            <a:ext cx="4069080" cy="566928"/>
          </a:xfrm>
          <a:prstGeom prst="rect">
            <a:avLst/>
          </a:prstGeom>
          <a:noFill/>
          <a:ln/>
        </p:spPr>
        <p:txBody>
          <a:bodyPr wrap="square" lIns="0" tIns="0" rIns="0" bIns="0" rtlCol="0" anchor="ctr"/>
          <a:lstStyle/>
          <a:p>
            <a:pPr marL="0" indent="0">
              <a:lnSpc>
                <a:spcPct val="105000"/>
              </a:lnSpc>
              <a:buNone/>
            </a:pPr>
            <a:r>
              <a:rPr lang="en-US" sz="1200" dirty="0">
                <a:solidFill>
                  <a:srgbClr val="22C55E"/>
                </a:solidFill>
                <a:latin typeface="Calibri" pitchFamily="34" charset="0"/>
                <a:ea typeface="Calibri" pitchFamily="34" charset="-122"/>
                <a:cs typeface="Calibri" pitchFamily="34" charset="-120"/>
              </a:rPr>
              <a:t>Web dashboard, any device</a:t>
            </a:r>
            <a:endParaRPr lang="en-US" sz="1200" dirty="0"/>
          </a:p>
        </p:txBody>
      </p:sp>
      <p:sp>
        <p:nvSpPr>
          <p:cNvPr id="46" name="Text 44"/>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47" name="Text 45"/>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06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CORE MAPPING</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Operating System Concepts Used in This Project</a:t>
            </a:r>
            <a:endParaRPr lang="en-US" sz="3000" dirty="0"/>
          </a:p>
        </p:txBody>
      </p:sp>
      <p:sp>
        <p:nvSpPr>
          <p:cNvPr id="4" name="Shape 2"/>
          <p:cNvSpPr/>
          <p:nvPr/>
        </p:nvSpPr>
        <p:spPr>
          <a:xfrm>
            <a:off x="548640" y="1627632"/>
            <a:ext cx="2331720" cy="566928"/>
          </a:xfrm>
          <a:prstGeom prst="roundRect">
            <a:avLst>
              <a:gd name="adj" fmla="val 12903"/>
            </a:avLst>
          </a:prstGeom>
          <a:solidFill>
            <a:srgbClr val="2563EB"/>
          </a:solidFill>
          <a:ln w="12700">
            <a:solidFill>
              <a:srgbClr val="334155"/>
            </a:solidFill>
            <a:prstDash val="solid"/>
          </a:ln>
        </p:spPr>
      </p:sp>
      <p:sp>
        <p:nvSpPr>
          <p:cNvPr id="5" name="Text 3"/>
          <p:cNvSpPr/>
          <p:nvPr/>
        </p:nvSpPr>
        <p:spPr>
          <a:xfrm>
            <a:off x="594360" y="1627632"/>
            <a:ext cx="2240280" cy="566928"/>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CPU Monitoring</a:t>
            </a:r>
            <a:endParaRPr lang="en-US" sz="1150" dirty="0"/>
          </a:p>
        </p:txBody>
      </p:sp>
      <p:sp>
        <p:nvSpPr>
          <p:cNvPr id="6" name="Shape 4"/>
          <p:cNvSpPr/>
          <p:nvPr/>
        </p:nvSpPr>
        <p:spPr>
          <a:xfrm>
            <a:off x="2907792" y="1856232"/>
            <a:ext cx="201168" cy="146304"/>
          </a:xfrm>
          <a:prstGeom prst="rightArrow">
            <a:avLst/>
          </a:prstGeom>
          <a:solidFill>
            <a:srgbClr val="64748B"/>
          </a:solidFill>
          <a:ln/>
        </p:spPr>
      </p:sp>
      <p:sp>
        <p:nvSpPr>
          <p:cNvPr id="7" name="Shape 5"/>
          <p:cNvSpPr/>
          <p:nvPr/>
        </p:nvSpPr>
        <p:spPr>
          <a:xfrm>
            <a:off x="3136392" y="1627632"/>
            <a:ext cx="2331720" cy="566928"/>
          </a:xfrm>
          <a:prstGeom prst="roundRect">
            <a:avLst>
              <a:gd name="adj" fmla="val 12903"/>
            </a:avLst>
          </a:prstGeom>
          <a:solidFill>
            <a:srgbClr val="24304A"/>
          </a:solidFill>
          <a:ln w="12700">
            <a:solidFill>
              <a:srgbClr val="334155"/>
            </a:solidFill>
            <a:prstDash val="solid"/>
          </a:ln>
        </p:spPr>
      </p:sp>
      <p:sp>
        <p:nvSpPr>
          <p:cNvPr id="8" name="Text 6"/>
          <p:cNvSpPr/>
          <p:nvPr/>
        </p:nvSpPr>
        <p:spPr>
          <a:xfrm>
            <a:off x="3182112" y="162763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CPU Scheduling</a:t>
            </a:r>
            <a:endParaRPr lang="en-US" sz="1100" dirty="0"/>
          </a:p>
        </p:txBody>
      </p:sp>
      <p:sp>
        <p:nvSpPr>
          <p:cNvPr id="9" name="Shape 7"/>
          <p:cNvSpPr/>
          <p:nvPr/>
        </p:nvSpPr>
        <p:spPr>
          <a:xfrm>
            <a:off x="5495544" y="1856232"/>
            <a:ext cx="201168" cy="146304"/>
          </a:xfrm>
          <a:prstGeom prst="rightArrow">
            <a:avLst/>
          </a:prstGeom>
          <a:solidFill>
            <a:srgbClr val="64748B"/>
          </a:solidFill>
          <a:ln/>
        </p:spPr>
      </p:sp>
      <p:sp>
        <p:nvSpPr>
          <p:cNvPr id="10" name="Shape 8"/>
          <p:cNvSpPr/>
          <p:nvPr/>
        </p:nvSpPr>
        <p:spPr>
          <a:xfrm>
            <a:off x="5724144" y="1627632"/>
            <a:ext cx="2331720" cy="566928"/>
          </a:xfrm>
          <a:prstGeom prst="roundRect">
            <a:avLst>
              <a:gd name="adj" fmla="val 12903"/>
            </a:avLst>
          </a:prstGeom>
          <a:solidFill>
            <a:srgbClr val="24304A"/>
          </a:solidFill>
          <a:ln w="12700">
            <a:solidFill>
              <a:srgbClr val="334155"/>
            </a:solidFill>
            <a:prstDash val="solid"/>
          </a:ln>
        </p:spPr>
      </p:sp>
      <p:sp>
        <p:nvSpPr>
          <p:cNvPr id="11" name="Text 9"/>
          <p:cNvSpPr/>
          <p:nvPr/>
        </p:nvSpPr>
        <p:spPr>
          <a:xfrm>
            <a:off x="5769864" y="162763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Process Execution</a:t>
            </a:r>
            <a:endParaRPr lang="en-US" sz="1100" dirty="0"/>
          </a:p>
        </p:txBody>
      </p:sp>
      <p:sp>
        <p:nvSpPr>
          <p:cNvPr id="12" name="Shape 10"/>
          <p:cNvSpPr/>
          <p:nvPr/>
        </p:nvSpPr>
        <p:spPr>
          <a:xfrm>
            <a:off x="8083296" y="1856232"/>
            <a:ext cx="201168" cy="146304"/>
          </a:xfrm>
          <a:prstGeom prst="rightArrow">
            <a:avLst/>
          </a:prstGeom>
          <a:solidFill>
            <a:srgbClr val="64748B"/>
          </a:solidFill>
          <a:ln/>
        </p:spPr>
      </p:sp>
      <p:sp>
        <p:nvSpPr>
          <p:cNvPr id="13" name="Shape 11"/>
          <p:cNvSpPr/>
          <p:nvPr/>
        </p:nvSpPr>
        <p:spPr>
          <a:xfrm>
            <a:off x="8311896" y="1627632"/>
            <a:ext cx="2331720" cy="566928"/>
          </a:xfrm>
          <a:prstGeom prst="roundRect">
            <a:avLst>
              <a:gd name="adj" fmla="val 12903"/>
            </a:avLst>
          </a:prstGeom>
          <a:solidFill>
            <a:srgbClr val="24304A"/>
          </a:solidFill>
          <a:ln w="12700">
            <a:solidFill>
              <a:srgbClr val="334155"/>
            </a:solidFill>
            <a:prstDash val="solid"/>
          </a:ln>
        </p:spPr>
      </p:sp>
      <p:sp>
        <p:nvSpPr>
          <p:cNvPr id="14" name="Text 12"/>
          <p:cNvSpPr/>
          <p:nvPr/>
        </p:nvSpPr>
        <p:spPr>
          <a:xfrm>
            <a:off x="8357616" y="162763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Context Switching</a:t>
            </a:r>
            <a:endParaRPr lang="en-US" sz="1100" dirty="0"/>
          </a:p>
        </p:txBody>
      </p:sp>
      <p:sp>
        <p:nvSpPr>
          <p:cNvPr id="15" name="Shape 13"/>
          <p:cNvSpPr/>
          <p:nvPr/>
        </p:nvSpPr>
        <p:spPr>
          <a:xfrm>
            <a:off x="548640" y="2404872"/>
            <a:ext cx="2331720" cy="566928"/>
          </a:xfrm>
          <a:prstGeom prst="roundRect">
            <a:avLst>
              <a:gd name="adj" fmla="val 12903"/>
            </a:avLst>
          </a:prstGeom>
          <a:solidFill>
            <a:srgbClr val="2563EB"/>
          </a:solidFill>
          <a:ln w="12700">
            <a:solidFill>
              <a:srgbClr val="334155"/>
            </a:solidFill>
            <a:prstDash val="solid"/>
          </a:ln>
        </p:spPr>
      </p:sp>
      <p:sp>
        <p:nvSpPr>
          <p:cNvPr id="16" name="Text 14"/>
          <p:cNvSpPr/>
          <p:nvPr/>
        </p:nvSpPr>
        <p:spPr>
          <a:xfrm>
            <a:off x="594360" y="2404872"/>
            <a:ext cx="2240280" cy="566928"/>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Memory Monitoring</a:t>
            </a:r>
            <a:endParaRPr lang="en-US" sz="1150" dirty="0"/>
          </a:p>
        </p:txBody>
      </p:sp>
      <p:sp>
        <p:nvSpPr>
          <p:cNvPr id="17" name="Shape 15"/>
          <p:cNvSpPr/>
          <p:nvPr/>
        </p:nvSpPr>
        <p:spPr>
          <a:xfrm>
            <a:off x="2907792" y="2633472"/>
            <a:ext cx="201168" cy="146304"/>
          </a:xfrm>
          <a:prstGeom prst="rightArrow">
            <a:avLst/>
          </a:prstGeom>
          <a:solidFill>
            <a:srgbClr val="64748B"/>
          </a:solidFill>
          <a:ln/>
        </p:spPr>
      </p:sp>
      <p:sp>
        <p:nvSpPr>
          <p:cNvPr id="18" name="Shape 16"/>
          <p:cNvSpPr/>
          <p:nvPr/>
        </p:nvSpPr>
        <p:spPr>
          <a:xfrm>
            <a:off x="3136392" y="2404872"/>
            <a:ext cx="2331720" cy="566928"/>
          </a:xfrm>
          <a:prstGeom prst="roundRect">
            <a:avLst>
              <a:gd name="adj" fmla="val 12903"/>
            </a:avLst>
          </a:prstGeom>
          <a:solidFill>
            <a:srgbClr val="24304A"/>
          </a:solidFill>
          <a:ln w="12700">
            <a:solidFill>
              <a:srgbClr val="334155"/>
            </a:solidFill>
            <a:prstDash val="solid"/>
          </a:ln>
        </p:spPr>
      </p:sp>
      <p:sp>
        <p:nvSpPr>
          <p:cNvPr id="19" name="Text 17"/>
          <p:cNvSpPr/>
          <p:nvPr/>
        </p:nvSpPr>
        <p:spPr>
          <a:xfrm>
            <a:off x="3182112" y="240487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Memory Allocation</a:t>
            </a:r>
            <a:endParaRPr lang="en-US" sz="1100" dirty="0"/>
          </a:p>
        </p:txBody>
      </p:sp>
      <p:sp>
        <p:nvSpPr>
          <p:cNvPr id="20" name="Shape 18"/>
          <p:cNvSpPr/>
          <p:nvPr/>
        </p:nvSpPr>
        <p:spPr>
          <a:xfrm>
            <a:off x="5495544" y="2633472"/>
            <a:ext cx="201168" cy="146304"/>
          </a:xfrm>
          <a:prstGeom prst="rightArrow">
            <a:avLst/>
          </a:prstGeom>
          <a:solidFill>
            <a:srgbClr val="64748B"/>
          </a:solidFill>
          <a:ln/>
        </p:spPr>
      </p:sp>
      <p:sp>
        <p:nvSpPr>
          <p:cNvPr id="21" name="Shape 19"/>
          <p:cNvSpPr/>
          <p:nvPr/>
        </p:nvSpPr>
        <p:spPr>
          <a:xfrm>
            <a:off x="5724144" y="2404872"/>
            <a:ext cx="2331720" cy="566928"/>
          </a:xfrm>
          <a:prstGeom prst="roundRect">
            <a:avLst>
              <a:gd name="adj" fmla="val 12903"/>
            </a:avLst>
          </a:prstGeom>
          <a:solidFill>
            <a:srgbClr val="24304A"/>
          </a:solidFill>
          <a:ln w="12700">
            <a:solidFill>
              <a:srgbClr val="334155"/>
            </a:solidFill>
            <a:prstDash val="solid"/>
          </a:ln>
        </p:spPr>
      </p:sp>
      <p:sp>
        <p:nvSpPr>
          <p:cNvPr id="22" name="Text 20"/>
          <p:cNvSpPr/>
          <p:nvPr/>
        </p:nvSpPr>
        <p:spPr>
          <a:xfrm>
            <a:off x="5769864" y="240487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Virtual Memory</a:t>
            </a:r>
            <a:endParaRPr lang="en-US" sz="1100" dirty="0"/>
          </a:p>
        </p:txBody>
      </p:sp>
      <p:sp>
        <p:nvSpPr>
          <p:cNvPr id="23" name="Shape 21"/>
          <p:cNvSpPr/>
          <p:nvPr/>
        </p:nvSpPr>
        <p:spPr>
          <a:xfrm>
            <a:off x="8083296" y="2633472"/>
            <a:ext cx="201168" cy="146304"/>
          </a:xfrm>
          <a:prstGeom prst="rightArrow">
            <a:avLst/>
          </a:prstGeom>
          <a:solidFill>
            <a:srgbClr val="64748B"/>
          </a:solidFill>
          <a:ln/>
        </p:spPr>
      </p:sp>
      <p:sp>
        <p:nvSpPr>
          <p:cNvPr id="24" name="Shape 22"/>
          <p:cNvSpPr/>
          <p:nvPr/>
        </p:nvSpPr>
        <p:spPr>
          <a:xfrm>
            <a:off x="8311896" y="2404872"/>
            <a:ext cx="2331720" cy="566928"/>
          </a:xfrm>
          <a:prstGeom prst="roundRect">
            <a:avLst>
              <a:gd name="adj" fmla="val 12903"/>
            </a:avLst>
          </a:prstGeom>
          <a:solidFill>
            <a:srgbClr val="24304A"/>
          </a:solidFill>
          <a:ln w="12700">
            <a:solidFill>
              <a:srgbClr val="334155"/>
            </a:solidFill>
            <a:prstDash val="solid"/>
          </a:ln>
        </p:spPr>
      </p:sp>
      <p:sp>
        <p:nvSpPr>
          <p:cNvPr id="25" name="Text 23"/>
          <p:cNvSpPr/>
          <p:nvPr/>
        </p:nvSpPr>
        <p:spPr>
          <a:xfrm>
            <a:off x="8357616" y="240487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Paging</a:t>
            </a:r>
            <a:endParaRPr lang="en-US" sz="1100" dirty="0"/>
          </a:p>
        </p:txBody>
      </p:sp>
      <p:sp>
        <p:nvSpPr>
          <p:cNvPr id="26" name="Shape 24"/>
          <p:cNvSpPr/>
          <p:nvPr/>
        </p:nvSpPr>
        <p:spPr>
          <a:xfrm>
            <a:off x="548640" y="3182112"/>
            <a:ext cx="2331720" cy="566928"/>
          </a:xfrm>
          <a:prstGeom prst="roundRect">
            <a:avLst>
              <a:gd name="adj" fmla="val 12903"/>
            </a:avLst>
          </a:prstGeom>
          <a:solidFill>
            <a:srgbClr val="2563EB"/>
          </a:solidFill>
          <a:ln w="12700">
            <a:solidFill>
              <a:srgbClr val="334155"/>
            </a:solidFill>
            <a:prstDash val="solid"/>
          </a:ln>
        </p:spPr>
      </p:sp>
      <p:sp>
        <p:nvSpPr>
          <p:cNvPr id="27" name="Text 25"/>
          <p:cNvSpPr/>
          <p:nvPr/>
        </p:nvSpPr>
        <p:spPr>
          <a:xfrm>
            <a:off x="594360" y="3182112"/>
            <a:ext cx="2240280" cy="566928"/>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Disk Monitoring</a:t>
            </a:r>
            <a:endParaRPr lang="en-US" sz="1150" dirty="0"/>
          </a:p>
        </p:txBody>
      </p:sp>
      <p:sp>
        <p:nvSpPr>
          <p:cNvPr id="28" name="Shape 26"/>
          <p:cNvSpPr/>
          <p:nvPr/>
        </p:nvSpPr>
        <p:spPr>
          <a:xfrm>
            <a:off x="2907792" y="3410712"/>
            <a:ext cx="201168" cy="146304"/>
          </a:xfrm>
          <a:prstGeom prst="rightArrow">
            <a:avLst/>
          </a:prstGeom>
          <a:solidFill>
            <a:srgbClr val="64748B"/>
          </a:solidFill>
          <a:ln/>
        </p:spPr>
      </p:sp>
      <p:sp>
        <p:nvSpPr>
          <p:cNvPr id="29" name="Shape 27"/>
          <p:cNvSpPr/>
          <p:nvPr/>
        </p:nvSpPr>
        <p:spPr>
          <a:xfrm>
            <a:off x="3136392" y="3182112"/>
            <a:ext cx="2331720" cy="566928"/>
          </a:xfrm>
          <a:prstGeom prst="roundRect">
            <a:avLst>
              <a:gd name="adj" fmla="val 12903"/>
            </a:avLst>
          </a:prstGeom>
          <a:solidFill>
            <a:srgbClr val="24304A"/>
          </a:solidFill>
          <a:ln w="12700">
            <a:solidFill>
              <a:srgbClr val="334155"/>
            </a:solidFill>
            <a:prstDash val="solid"/>
          </a:ln>
        </p:spPr>
      </p:sp>
      <p:sp>
        <p:nvSpPr>
          <p:cNvPr id="30" name="Text 28"/>
          <p:cNvSpPr/>
          <p:nvPr/>
        </p:nvSpPr>
        <p:spPr>
          <a:xfrm>
            <a:off x="3182112" y="318211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File System</a:t>
            </a:r>
            <a:endParaRPr lang="en-US" sz="1100" dirty="0"/>
          </a:p>
        </p:txBody>
      </p:sp>
      <p:sp>
        <p:nvSpPr>
          <p:cNvPr id="31" name="Shape 29"/>
          <p:cNvSpPr/>
          <p:nvPr/>
        </p:nvSpPr>
        <p:spPr>
          <a:xfrm>
            <a:off x="5495544" y="3410712"/>
            <a:ext cx="201168" cy="146304"/>
          </a:xfrm>
          <a:prstGeom prst="rightArrow">
            <a:avLst/>
          </a:prstGeom>
          <a:solidFill>
            <a:srgbClr val="64748B"/>
          </a:solidFill>
          <a:ln/>
        </p:spPr>
      </p:sp>
      <p:sp>
        <p:nvSpPr>
          <p:cNvPr id="32" name="Shape 30"/>
          <p:cNvSpPr/>
          <p:nvPr/>
        </p:nvSpPr>
        <p:spPr>
          <a:xfrm>
            <a:off x="5724144" y="3182112"/>
            <a:ext cx="2331720" cy="566928"/>
          </a:xfrm>
          <a:prstGeom prst="roundRect">
            <a:avLst>
              <a:gd name="adj" fmla="val 12903"/>
            </a:avLst>
          </a:prstGeom>
          <a:solidFill>
            <a:srgbClr val="24304A"/>
          </a:solidFill>
          <a:ln w="12700">
            <a:solidFill>
              <a:srgbClr val="334155"/>
            </a:solidFill>
            <a:prstDash val="solid"/>
          </a:ln>
        </p:spPr>
      </p:sp>
      <p:sp>
        <p:nvSpPr>
          <p:cNvPr id="33" name="Text 31"/>
          <p:cNvSpPr/>
          <p:nvPr/>
        </p:nvSpPr>
        <p:spPr>
          <a:xfrm>
            <a:off x="5769864" y="318211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Storage Allocation</a:t>
            </a:r>
            <a:endParaRPr lang="en-US" sz="1100" dirty="0"/>
          </a:p>
        </p:txBody>
      </p:sp>
      <p:sp>
        <p:nvSpPr>
          <p:cNvPr id="34" name="Shape 32"/>
          <p:cNvSpPr/>
          <p:nvPr/>
        </p:nvSpPr>
        <p:spPr>
          <a:xfrm>
            <a:off x="8083296" y="3410712"/>
            <a:ext cx="201168" cy="146304"/>
          </a:xfrm>
          <a:prstGeom prst="rightArrow">
            <a:avLst/>
          </a:prstGeom>
          <a:solidFill>
            <a:srgbClr val="64748B"/>
          </a:solidFill>
          <a:ln/>
        </p:spPr>
      </p:sp>
      <p:sp>
        <p:nvSpPr>
          <p:cNvPr id="35" name="Shape 33"/>
          <p:cNvSpPr/>
          <p:nvPr/>
        </p:nvSpPr>
        <p:spPr>
          <a:xfrm>
            <a:off x="8311896" y="3182112"/>
            <a:ext cx="2331720" cy="566928"/>
          </a:xfrm>
          <a:prstGeom prst="roundRect">
            <a:avLst>
              <a:gd name="adj" fmla="val 12903"/>
            </a:avLst>
          </a:prstGeom>
          <a:solidFill>
            <a:srgbClr val="24304A"/>
          </a:solidFill>
          <a:ln w="12700">
            <a:solidFill>
              <a:srgbClr val="334155"/>
            </a:solidFill>
            <a:prstDash val="solid"/>
          </a:ln>
        </p:spPr>
      </p:sp>
      <p:sp>
        <p:nvSpPr>
          <p:cNvPr id="36" name="Text 34"/>
          <p:cNvSpPr/>
          <p:nvPr/>
        </p:nvSpPr>
        <p:spPr>
          <a:xfrm>
            <a:off x="8357616" y="318211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Disk Scheduling</a:t>
            </a:r>
            <a:endParaRPr lang="en-US" sz="1100" dirty="0"/>
          </a:p>
        </p:txBody>
      </p:sp>
      <p:sp>
        <p:nvSpPr>
          <p:cNvPr id="37" name="Shape 35"/>
          <p:cNvSpPr/>
          <p:nvPr/>
        </p:nvSpPr>
        <p:spPr>
          <a:xfrm>
            <a:off x="548640" y="3959352"/>
            <a:ext cx="2331720" cy="566928"/>
          </a:xfrm>
          <a:prstGeom prst="roundRect">
            <a:avLst>
              <a:gd name="adj" fmla="val 12903"/>
            </a:avLst>
          </a:prstGeom>
          <a:solidFill>
            <a:srgbClr val="2563EB"/>
          </a:solidFill>
          <a:ln w="12700">
            <a:solidFill>
              <a:srgbClr val="334155"/>
            </a:solidFill>
            <a:prstDash val="solid"/>
          </a:ln>
        </p:spPr>
      </p:sp>
      <p:sp>
        <p:nvSpPr>
          <p:cNvPr id="38" name="Text 36"/>
          <p:cNvSpPr/>
          <p:nvPr/>
        </p:nvSpPr>
        <p:spPr>
          <a:xfrm>
            <a:off x="594360" y="3959352"/>
            <a:ext cx="2240280" cy="566928"/>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Network Monitoring</a:t>
            </a:r>
            <a:endParaRPr lang="en-US" sz="1150" dirty="0"/>
          </a:p>
        </p:txBody>
      </p:sp>
      <p:sp>
        <p:nvSpPr>
          <p:cNvPr id="39" name="Shape 37"/>
          <p:cNvSpPr/>
          <p:nvPr/>
        </p:nvSpPr>
        <p:spPr>
          <a:xfrm>
            <a:off x="2907792" y="4187952"/>
            <a:ext cx="201168" cy="146304"/>
          </a:xfrm>
          <a:prstGeom prst="rightArrow">
            <a:avLst/>
          </a:prstGeom>
          <a:solidFill>
            <a:srgbClr val="64748B"/>
          </a:solidFill>
          <a:ln/>
        </p:spPr>
      </p:sp>
      <p:sp>
        <p:nvSpPr>
          <p:cNvPr id="40" name="Shape 38"/>
          <p:cNvSpPr/>
          <p:nvPr/>
        </p:nvSpPr>
        <p:spPr>
          <a:xfrm>
            <a:off x="3136392" y="3959352"/>
            <a:ext cx="2331720" cy="566928"/>
          </a:xfrm>
          <a:prstGeom prst="roundRect">
            <a:avLst>
              <a:gd name="adj" fmla="val 12903"/>
            </a:avLst>
          </a:prstGeom>
          <a:solidFill>
            <a:srgbClr val="24304A"/>
          </a:solidFill>
          <a:ln w="12700">
            <a:solidFill>
              <a:srgbClr val="334155"/>
            </a:solidFill>
            <a:prstDash val="solid"/>
          </a:ln>
        </p:spPr>
      </p:sp>
      <p:sp>
        <p:nvSpPr>
          <p:cNvPr id="41" name="Text 39"/>
          <p:cNvSpPr/>
          <p:nvPr/>
        </p:nvSpPr>
        <p:spPr>
          <a:xfrm>
            <a:off x="3182112" y="395935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I/O Management</a:t>
            </a:r>
            <a:endParaRPr lang="en-US" sz="1100" dirty="0"/>
          </a:p>
        </p:txBody>
      </p:sp>
      <p:sp>
        <p:nvSpPr>
          <p:cNvPr id="42" name="Shape 40"/>
          <p:cNvSpPr/>
          <p:nvPr/>
        </p:nvSpPr>
        <p:spPr>
          <a:xfrm>
            <a:off x="5495544" y="4187952"/>
            <a:ext cx="201168" cy="146304"/>
          </a:xfrm>
          <a:prstGeom prst="rightArrow">
            <a:avLst/>
          </a:prstGeom>
          <a:solidFill>
            <a:srgbClr val="64748B"/>
          </a:solidFill>
          <a:ln/>
        </p:spPr>
      </p:sp>
      <p:sp>
        <p:nvSpPr>
          <p:cNvPr id="43" name="Shape 41"/>
          <p:cNvSpPr/>
          <p:nvPr/>
        </p:nvSpPr>
        <p:spPr>
          <a:xfrm>
            <a:off x="5724144" y="3959352"/>
            <a:ext cx="2331720" cy="566928"/>
          </a:xfrm>
          <a:prstGeom prst="roundRect">
            <a:avLst>
              <a:gd name="adj" fmla="val 12903"/>
            </a:avLst>
          </a:prstGeom>
          <a:solidFill>
            <a:srgbClr val="24304A"/>
          </a:solidFill>
          <a:ln w="12700">
            <a:solidFill>
              <a:srgbClr val="334155"/>
            </a:solidFill>
            <a:prstDash val="solid"/>
          </a:ln>
        </p:spPr>
      </p:sp>
      <p:sp>
        <p:nvSpPr>
          <p:cNvPr id="44" name="Text 42"/>
          <p:cNvSpPr/>
          <p:nvPr/>
        </p:nvSpPr>
        <p:spPr>
          <a:xfrm>
            <a:off x="5769864" y="395935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Socket Communication</a:t>
            </a:r>
            <a:endParaRPr lang="en-US" sz="1100" dirty="0"/>
          </a:p>
        </p:txBody>
      </p:sp>
      <p:sp>
        <p:nvSpPr>
          <p:cNvPr id="45" name="Shape 43"/>
          <p:cNvSpPr/>
          <p:nvPr/>
        </p:nvSpPr>
        <p:spPr>
          <a:xfrm>
            <a:off x="548640" y="4736592"/>
            <a:ext cx="2331720" cy="566928"/>
          </a:xfrm>
          <a:prstGeom prst="roundRect">
            <a:avLst>
              <a:gd name="adj" fmla="val 12903"/>
            </a:avLst>
          </a:prstGeom>
          <a:solidFill>
            <a:srgbClr val="2563EB"/>
          </a:solidFill>
          <a:ln w="12700">
            <a:solidFill>
              <a:srgbClr val="334155"/>
            </a:solidFill>
            <a:prstDash val="solid"/>
          </a:ln>
        </p:spPr>
      </p:sp>
      <p:sp>
        <p:nvSpPr>
          <p:cNvPr id="46" name="Text 44"/>
          <p:cNvSpPr/>
          <p:nvPr/>
        </p:nvSpPr>
        <p:spPr>
          <a:xfrm>
            <a:off x="594360" y="4736592"/>
            <a:ext cx="2240280" cy="566928"/>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Running Processes</a:t>
            </a:r>
            <a:endParaRPr lang="en-US" sz="1150" dirty="0"/>
          </a:p>
        </p:txBody>
      </p:sp>
      <p:sp>
        <p:nvSpPr>
          <p:cNvPr id="47" name="Shape 45"/>
          <p:cNvSpPr/>
          <p:nvPr/>
        </p:nvSpPr>
        <p:spPr>
          <a:xfrm>
            <a:off x="2907792" y="4965192"/>
            <a:ext cx="201168" cy="146304"/>
          </a:xfrm>
          <a:prstGeom prst="rightArrow">
            <a:avLst/>
          </a:prstGeom>
          <a:solidFill>
            <a:srgbClr val="64748B"/>
          </a:solidFill>
          <a:ln/>
        </p:spPr>
      </p:sp>
      <p:sp>
        <p:nvSpPr>
          <p:cNvPr id="48" name="Shape 46"/>
          <p:cNvSpPr/>
          <p:nvPr/>
        </p:nvSpPr>
        <p:spPr>
          <a:xfrm>
            <a:off x="3136392" y="4736592"/>
            <a:ext cx="2331720" cy="566928"/>
          </a:xfrm>
          <a:prstGeom prst="roundRect">
            <a:avLst>
              <a:gd name="adj" fmla="val 12903"/>
            </a:avLst>
          </a:prstGeom>
          <a:solidFill>
            <a:srgbClr val="24304A"/>
          </a:solidFill>
          <a:ln w="12700">
            <a:solidFill>
              <a:srgbClr val="334155"/>
            </a:solidFill>
            <a:prstDash val="solid"/>
          </a:ln>
        </p:spPr>
      </p:sp>
      <p:sp>
        <p:nvSpPr>
          <p:cNvPr id="49" name="Text 47"/>
          <p:cNvSpPr/>
          <p:nvPr/>
        </p:nvSpPr>
        <p:spPr>
          <a:xfrm>
            <a:off x="3182112" y="473659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Process Control Block</a:t>
            </a:r>
            <a:endParaRPr lang="en-US" sz="1100" dirty="0"/>
          </a:p>
        </p:txBody>
      </p:sp>
      <p:sp>
        <p:nvSpPr>
          <p:cNvPr id="50" name="Shape 48"/>
          <p:cNvSpPr/>
          <p:nvPr/>
        </p:nvSpPr>
        <p:spPr>
          <a:xfrm>
            <a:off x="5495544" y="4965192"/>
            <a:ext cx="201168" cy="146304"/>
          </a:xfrm>
          <a:prstGeom prst="rightArrow">
            <a:avLst/>
          </a:prstGeom>
          <a:solidFill>
            <a:srgbClr val="64748B"/>
          </a:solidFill>
          <a:ln/>
        </p:spPr>
      </p:sp>
      <p:sp>
        <p:nvSpPr>
          <p:cNvPr id="51" name="Shape 49"/>
          <p:cNvSpPr/>
          <p:nvPr/>
        </p:nvSpPr>
        <p:spPr>
          <a:xfrm>
            <a:off x="5724144" y="4736592"/>
            <a:ext cx="2331720" cy="566928"/>
          </a:xfrm>
          <a:prstGeom prst="roundRect">
            <a:avLst>
              <a:gd name="adj" fmla="val 12903"/>
            </a:avLst>
          </a:prstGeom>
          <a:solidFill>
            <a:srgbClr val="24304A"/>
          </a:solidFill>
          <a:ln w="12700">
            <a:solidFill>
              <a:srgbClr val="334155"/>
            </a:solidFill>
            <a:prstDash val="solid"/>
          </a:ln>
        </p:spPr>
      </p:sp>
      <p:sp>
        <p:nvSpPr>
          <p:cNvPr id="52" name="Text 50"/>
          <p:cNvSpPr/>
          <p:nvPr/>
        </p:nvSpPr>
        <p:spPr>
          <a:xfrm>
            <a:off x="5769864" y="473659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Process Scheduling</a:t>
            </a:r>
            <a:endParaRPr lang="en-US" sz="1100" dirty="0"/>
          </a:p>
        </p:txBody>
      </p:sp>
      <p:sp>
        <p:nvSpPr>
          <p:cNvPr id="53" name="Shape 51"/>
          <p:cNvSpPr/>
          <p:nvPr/>
        </p:nvSpPr>
        <p:spPr>
          <a:xfrm>
            <a:off x="548640" y="5513832"/>
            <a:ext cx="2331720" cy="566928"/>
          </a:xfrm>
          <a:prstGeom prst="roundRect">
            <a:avLst>
              <a:gd name="adj" fmla="val 12903"/>
            </a:avLst>
          </a:prstGeom>
          <a:solidFill>
            <a:srgbClr val="2563EB"/>
          </a:solidFill>
          <a:ln w="12700">
            <a:solidFill>
              <a:srgbClr val="334155"/>
            </a:solidFill>
            <a:prstDash val="solid"/>
          </a:ln>
        </p:spPr>
      </p:sp>
      <p:sp>
        <p:nvSpPr>
          <p:cNvPr id="54" name="Text 52"/>
          <p:cNvSpPr/>
          <p:nvPr/>
        </p:nvSpPr>
        <p:spPr>
          <a:xfrm>
            <a:off x="594360" y="5513832"/>
            <a:ext cx="2240280" cy="566928"/>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Alerts &amp; Recommendations</a:t>
            </a:r>
            <a:endParaRPr lang="en-US" sz="1150" dirty="0"/>
          </a:p>
        </p:txBody>
      </p:sp>
      <p:sp>
        <p:nvSpPr>
          <p:cNvPr id="55" name="Shape 53"/>
          <p:cNvSpPr/>
          <p:nvPr/>
        </p:nvSpPr>
        <p:spPr>
          <a:xfrm>
            <a:off x="2907792" y="5742432"/>
            <a:ext cx="201168" cy="146304"/>
          </a:xfrm>
          <a:prstGeom prst="rightArrow">
            <a:avLst/>
          </a:prstGeom>
          <a:solidFill>
            <a:srgbClr val="64748B"/>
          </a:solidFill>
          <a:ln/>
        </p:spPr>
      </p:sp>
      <p:sp>
        <p:nvSpPr>
          <p:cNvPr id="56" name="Shape 54"/>
          <p:cNvSpPr/>
          <p:nvPr/>
        </p:nvSpPr>
        <p:spPr>
          <a:xfrm>
            <a:off x="3136392" y="5513832"/>
            <a:ext cx="2331720" cy="566928"/>
          </a:xfrm>
          <a:prstGeom prst="roundRect">
            <a:avLst>
              <a:gd name="adj" fmla="val 12903"/>
            </a:avLst>
          </a:prstGeom>
          <a:solidFill>
            <a:srgbClr val="24304A"/>
          </a:solidFill>
          <a:ln w="12700">
            <a:solidFill>
              <a:srgbClr val="334155"/>
            </a:solidFill>
            <a:prstDash val="solid"/>
          </a:ln>
        </p:spPr>
      </p:sp>
      <p:sp>
        <p:nvSpPr>
          <p:cNvPr id="57" name="Text 55"/>
          <p:cNvSpPr/>
          <p:nvPr/>
        </p:nvSpPr>
        <p:spPr>
          <a:xfrm>
            <a:off x="3182112" y="551383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Resource Optimization</a:t>
            </a:r>
            <a:endParaRPr lang="en-US" sz="1100" dirty="0"/>
          </a:p>
        </p:txBody>
      </p:sp>
      <p:sp>
        <p:nvSpPr>
          <p:cNvPr id="58" name="Shape 56"/>
          <p:cNvSpPr/>
          <p:nvPr/>
        </p:nvSpPr>
        <p:spPr>
          <a:xfrm>
            <a:off x="5495544" y="5742432"/>
            <a:ext cx="201168" cy="146304"/>
          </a:xfrm>
          <a:prstGeom prst="rightArrow">
            <a:avLst/>
          </a:prstGeom>
          <a:solidFill>
            <a:srgbClr val="64748B"/>
          </a:solidFill>
          <a:ln/>
        </p:spPr>
      </p:sp>
      <p:sp>
        <p:nvSpPr>
          <p:cNvPr id="59" name="Shape 57"/>
          <p:cNvSpPr/>
          <p:nvPr/>
        </p:nvSpPr>
        <p:spPr>
          <a:xfrm>
            <a:off x="5724144" y="5513832"/>
            <a:ext cx="2331720" cy="566928"/>
          </a:xfrm>
          <a:prstGeom prst="roundRect">
            <a:avLst>
              <a:gd name="adj" fmla="val 12903"/>
            </a:avLst>
          </a:prstGeom>
          <a:solidFill>
            <a:srgbClr val="24304A"/>
          </a:solidFill>
          <a:ln w="12700">
            <a:solidFill>
              <a:srgbClr val="334155"/>
            </a:solidFill>
            <a:prstDash val="solid"/>
          </a:ln>
        </p:spPr>
      </p:sp>
      <p:sp>
        <p:nvSpPr>
          <p:cNvPr id="60" name="Text 58"/>
          <p:cNvSpPr/>
          <p:nvPr/>
        </p:nvSpPr>
        <p:spPr>
          <a:xfrm>
            <a:off x="5769864" y="5513832"/>
            <a:ext cx="2240280" cy="56692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OS Performance Tuning</a:t>
            </a:r>
            <a:endParaRPr lang="en-US" sz="1100" dirty="0"/>
          </a:p>
        </p:txBody>
      </p:sp>
      <p:sp>
        <p:nvSpPr>
          <p:cNvPr id="61" name="Text 59"/>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62" name="Text 60"/>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07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CORE MODULE</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Operating System Resource Monitoring</a:t>
            </a:r>
            <a:endParaRPr lang="en-US" sz="3000" dirty="0"/>
          </a:p>
        </p:txBody>
      </p:sp>
      <p:sp>
        <p:nvSpPr>
          <p:cNvPr id="4" name="Shape 2"/>
          <p:cNvSpPr/>
          <p:nvPr/>
        </p:nvSpPr>
        <p:spPr>
          <a:xfrm>
            <a:off x="548640" y="1691640"/>
            <a:ext cx="2139696" cy="4206240"/>
          </a:xfrm>
          <a:prstGeom prst="roundRect">
            <a:avLst>
              <a:gd name="adj" fmla="val 4274"/>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5" name="Shape 3"/>
          <p:cNvSpPr/>
          <p:nvPr/>
        </p:nvSpPr>
        <p:spPr>
          <a:xfrm>
            <a:off x="1298448" y="1965960"/>
            <a:ext cx="640080" cy="640080"/>
          </a:xfrm>
          <a:prstGeom prst="ellipse">
            <a:avLst/>
          </a:prstGeom>
          <a:solidFill>
            <a:srgbClr val="2563EB"/>
          </a:solidFill>
          <a:ln/>
        </p:spPr>
      </p:sp>
      <p:sp>
        <p:nvSpPr>
          <p:cNvPr id="6" name="Text 4"/>
          <p:cNvSpPr/>
          <p:nvPr/>
        </p:nvSpPr>
        <p:spPr>
          <a:xfrm>
            <a:off x="1298448" y="1965960"/>
            <a:ext cx="640080" cy="64008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CPU</a:t>
            </a:r>
            <a:endParaRPr lang="en-US" sz="1300" dirty="0"/>
          </a:p>
        </p:txBody>
      </p:sp>
      <p:sp>
        <p:nvSpPr>
          <p:cNvPr id="7" name="Text 5"/>
          <p:cNvSpPr/>
          <p:nvPr/>
        </p:nvSpPr>
        <p:spPr>
          <a:xfrm>
            <a:off x="713232" y="2834640"/>
            <a:ext cx="1810512" cy="1554480"/>
          </a:xfrm>
          <a:prstGeom prst="rect">
            <a:avLst/>
          </a:prstGeom>
          <a:noFill/>
          <a:ln/>
        </p:spPr>
        <p:txBody>
          <a:bodyPr wrap="square" lIns="0" tIns="0" rIns="0" bIns="0" rtlCol="0" anchor="t"/>
          <a:lstStyle/>
          <a:p>
            <a:pPr marL="0" indent="0">
              <a:lnSpc>
                <a:spcPct val="120000"/>
              </a:lnSpc>
              <a:buNone/>
            </a:pPr>
            <a:r>
              <a:rPr lang="en-US" sz="1150" dirty="0">
                <a:solidFill>
                  <a:srgbClr val="F8FAFC"/>
                </a:solidFill>
                <a:latin typeface="Calibri" pitchFamily="34" charset="0"/>
                <a:ea typeface="Calibri" pitchFamily="34" charset="-122"/>
                <a:cs typeface="Calibri" pitchFamily="34" charset="-120"/>
              </a:rPr>
              <a:t>CPU Usage %, per-core load, active threads</a:t>
            </a:r>
            <a:endParaRPr lang="en-US" sz="1150" dirty="0"/>
          </a:p>
        </p:txBody>
      </p:sp>
      <p:sp>
        <p:nvSpPr>
          <p:cNvPr id="8" name="Shape 6"/>
          <p:cNvSpPr/>
          <p:nvPr/>
        </p:nvSpPr>
        <p:spPr>
          <a:xfrm>
            <a:off x="713232" y="4480560"/>
            <a:ext cx="1810512" cy="0"/>
          </a:xfrm>
          <a:prstGeom prst="line">
            <a:avLst/>
          </a:prstGeom>
          <a:noFill/>
          <a:ln w="12700">
            <a:solidFill>
              <a:srgbClr val="334155"/>
            </a:solidFill>
            <a:prstDash val="solid"/>
          </a:ln>
        </p:spPr>
      </p:sp>
      <p:sp>
        <p:nvSpPr>
          <p:cNvPr id="9" name="Text 7"/>
          <p:cNvSpPr/>
          <p:nvPr/>
        </p:nvSpPr>
        <p:spPr>
          <a:xfrm>
            <a:off x="713232" y="4617720"/>
            <a:ext cx="1810512" cy="274320"/>
          </a:xfrm>
          <a:prstGeom prst="rect">
            <a:avLst/>
          </a:prstGeom>
          <a:noFill/>
          <a:ln/>
        </p:spPr>
        <p:txBody>
          <a:bodyPr wrap="square" lIns="0" tIns="0" rIns="0" bIns="0" rtlCol="0" anchor="ctr"/>
          <a:lstStyle/>
          <a:p>
            <a:pPr marL="0" indent="0">
              <a:buNone/>
            </a:pPr>
            <a:r>
              <a:rPr lang="en-US" sz="950" b="1" dirty="0">
                <a:solidFill>
                  <a:srgbClr val="38BDF8"/>
                </a:solidFill>
                <a:latin typeface="Calibri" pitchFamily="34" charset="0"/>
                <a:ea typeface="Calibri" pitchFamily="34" charset="-122"/>
                <a:cs typeface="Calibri" pitchFamily="34" charset="-120"/>
              </a:rPr>
              <a:t>OS Concepts</a:t>
            </a:r>
            <a:endParaRPr lang="en-US" sz="950" dirty="0"/>
          </a:p>
        </p:txBody>
      </p:sp>
      <p:sp>
        <p:nvSpPr>
          <p:cNvPr id="10" name="Text 8"/>
          <p:cNvSpPr/>
          <p:nvPr/>
        </p:nvSpPr>
        <p:spPr>
          <a:xfrm>
            <a:off x="713232" y="4892040"/>
            <a:ext cx="1810512" cy="822960"/>
          </a:xfrm>
          <a:prstGeom prst="rect">
            <a:avLst/>
          </a:prstGeom>
          <a:noFill/>
          <a:ln/>
        </p:spPr>
        <p:txBody>
          <a:bodyPr wrap="square" lIns="0" tIns="0" rIns="0" bIns="0"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Scheduling · Context Switching</a:t>
            </a:r>
            <a:endParaRPr lang="en-US" sz="1050" dirty="0"/>
          </a:p>
        </p:txBody>
      </p:sp>
      <p:sp>
        <p:nvSpPr>
          <p:cNvPr id="11" name="Shape 9"/>
          <p:cNvSpPr/>
          <p:nvPr/>
        </p:nvSpPr>
        <p:spPr>
          <a:xfrm>
            <a:off x="2807208" y="1691640"/>
            <a:ext cx="2139696" cy="4206240"/>
          </a:xfrm>
          <a:prstGeom prst="roundRect">
            <a:avLst>
              <a:gd name="adj" fmla="val 4274"/>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12" name="Shape 10"/>
          <p:cNvSpPr/>
          <p:nvPr/>
        </p:nvSpPr>
        <p:spPr>
          <a:xfrm>
            <a:off x="3557016" y="1965960"/>
            <a:ext cx="640080" cy="640080"/>
          </a:xfrm>
          <a:prstGeom prst="ellipse">
            <a:avLst/>
          </a:prstGeom>
          <a:solidFill>
            <a:srgbClr val="2563EB"/>
          </a:solidFill>
          <a:ln/>
        </p:spPr>
      </p:sp>
      <p:sp>
        <p:nvSpPr>
          <p:cNvPr id="13" name="Text 11"/>
          <p:cNvSpPr/>
          <p:nvPr/>
        </p:nvSpPr>
        <p:spPr>
          <a:xfrm>
            <a:off x="3557016" y="1965960"/>
            <a:ext cx="640080" cy="64008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MEM</a:t>
            </a:r>
            <a:endParaRPr lang="en-US" sz="1300" dirty="0"/>
          </a:p>
        </p:txBody>
      </p:sp>
      <p:sp>
        <p:nvSpPr>
          <p:cNvPr id="14" name="Text 12"/>
          <p:cNvSpPr/>
          <p:nvPr/>
        </p:nvSpPr>
        <p:spPr>
          <a:xfrm>
            <a:off x="2971800" y="2834640"/>
            <a:ext cx="1810512" cy="1554480"/>
          </a:xfrm>
          <a:prstGeom prst="rect">
            <a:avLst/>
          </a:prstGeom>
          <a:noFill/>
          <a:ln/>
        </p:spPr>
        <p:txBody>
          <a:bodyPr wrap="square" lIns="0" tIns="0" rIns="0" bIns="0" rtlCol="0" anchor="t"/>
          <a:lstStyle/>
          <a:p>
            <a:pPr marL="0" indent="0">
              <a:lnSpc>
                <a:spcPct val="120000"/>
              </a:lnSpc>
              <a:buNone/>
            </a:pPr>
            <a:r>
              <a:rPr lang="en-US" sz="1150" dirty="0">
                <a:solidFill>
                  <a:srgbClr val="F8FAFC"/>
                </a:solidFill>
                <a:latin typeface="Calibri" pitchFamily="34" charset="0"/>
                <a:ea typeface="Calibri" pitchFamily="34" charset="-122"/>
                <a:cs typeface="Calibri" pitchFamily="34" charset="-120"/>
              </a:rPr>
              <a:t>RAM usage, available memory, swap activity</a:t>
            </a:r>
            <a:endParaRPr lang="en-US" sz="1150" dirty="0"/>
          </a:p>
        </p:txBody>
      </p:sp>
      <p:sp>
        <p:nvSpPr>
          <p:cNvPr id="15" name="Shape 13"/>
          <p:cNvSpPr/>
          <p:nvPr/>
        </p:nvSpPr>
        <p:spPr>
          <a:xfrm>
            <a:off x="2971800" y="4480560"/>
            <a:ext cx="1810512" cy="0"/>
          </a:xfrm>
          <a:prstGeom prst="line">
            <a:avLst/>
          </a:prstGeom>
          <a:noFill/>
          <a:ln w="12700">
            <a:solidFill>
              <a:srgbClr val="334155"/>
            </a:solidFill>
            <a:prstDash val="solid"/>
          </a:ln>
        </p:spPr>
      </p:sp>
      <p:sp>
        <p:nvSpPr>
          <p:cNvPr id="16" name="Text 14"/>
          <p:cNvSpPr/>
          <p:nvPr/>
        </p:nvSpPr>
        <p:spPr>
          <a:xfrm>
            <a:off x="2971800" y="4617720"/>
            <a:ext cx="1810512" cy="274320"/>
          </a:xfrm>
          <a:prstGeom prst="rect">
            <a:avLst/>
          </a:prstGeom>
          <a:noFill/>
          <a:ln/>
        </p:spPr>
        <p:txBody>
          <a:bodyPr wrap="square" lIns="0" tIns="0" rIns="0" bIns="0" rtlCol="0" anchor="ctr"/>
          <a:lstStyle/>
          <a:p>
            <a:pPr marL="0" indent="0">
              <a:buNone/>
            </a:pPr>
            <a:r>
              <a:rPr lang="en-US" sz="950" b="1" dirty="0">
                <a:solidFill>
                  <a:srgbClr val="38BDF8"/>
                </a:solidFill>
                <a:latin typeface="Calibri" pitchFamily="34" charset="0"/>
                <a:ea typeface="Calibri" pitchFamily="34" charset="-122"/>
                <a:cs typeface="Calibri" pitchFamily="34" charset="-120"/>
              </a:rPr>
              <a:t>OS Concepts</a:t>
            </a:r>
            <a:endParaRPr lang="en-US" sz="950" dirty="0"/>
          </a:p>
        </p:txBody>
      </p:sp>
      <p:sp>
        <p:nvSpPr>
          <p:cNvPr id="17" name="Text 15"/>
          <p:cNvSpPr/>
          <p:nvPr/>
        </p:nvSpPr>
        <p:spPr>
          <a:xfrm>
            <a:off x="2971800" y="4892040"/>
            <a:ext cx="1810512" cy="822960"/>
          </a:xfrm>
          <a:prstGeom prst="rect">
            <a:avLst/>
          </a:prstGeom>
          <a:noFill/>
          <a:ln/>
        </p:spPr>
        <p:txBody>
          <a:bodyPr wrap="square" lIns="0" tIns="0" rIns="0" bIns="0"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Virtual Memory · Paging</a:t>
            </a:r>
            <a:endParaRPr lang="en-US" sz="1050" dirty="0"/>
          </a:p>
        </p:txBody>
      </p:sp>
      <p:sp>
        <p:nvSpPr>
          <p:cNvPr id="18" name="Shape 16"/>
          <p:cNvSpPr/>
          <p:nvPr/>
        </p:nvSpPr>
        <p:spPr>
          <a:xfrm>
            <a:off x="5065776" y="1691640"/>
            <a:ext cx="2139696" cy="4206240"/>
          </a:xfrm>
          <a:prstGeom prst="roundRect">
            <a:avLst>
              <a:gd name="adj" fmla="val 4274"/>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19" name="Shape 17"/>
          <p:cNvSpPr/>
          <p:nvPr/>
        </p:nvSpPr>
        <p:spPr>
          <a:xfrm>
            <a:off x="5815584" y="1965960"/>
            <a:ext cx="640080" cy="640080"/>
          </a:xfrm>
          <a:prstGeom prst="ellipse">
            <a:avLst/>
          </a:prstGeom>
          <a:solidFill>
            <a:srgbClr val="2563EB"/>
          </a:solidFill>
          <a:ln/>
        </p:spPr>
      </p:sp>
      <p:sp>
        <p:nvSpPr>
          <p:cNvPr id="20" name="Text 18"/>
          <p:cNvSpPr/>
          <p:nvPr/>
        </p:nvSpPr>
        <p:spPr>
          <a:xfrm>
            <a:off x="5815584" y="1965960"/>
            <a:ext cx="640080" cy="64008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DISK</a:t>
            </a:r>
            <a:endParaRPr lang="en-US" sz="1300" dirty="0"/>
          </a:p>
        </p:txBody>
      </p:sp>
      <p:sp>
        <p:nvSpPr>
          <p:cNvPr id="21" name="Text 19"/>
          <p:cNvSpPr/>
          <p:nvPr/>
        </p:nvSpPr>
        <p:spPr>
          <a:xfrm>
            <a:off x="5230368" y="2834640"/>
            <a:ext cx="1810512" cy="1554480"/>
          </a:xfrm>
          <a:prstGeom prst="rect">
            <a:avLst/>
          </a:prstGeom>
          <a:noFill/>
          <a:ln/>
        </p:spPr>
        <p:txBody>
          <a:bodyPr wrap="square" lIns="0" tIns="0" rIns="0" bIns="0" rtlCol="0" anchor="t"/>
          <a:lstStyle/>
          <a:p>
            <a:pPr marL="0" indent="0">
              <a:lnSpc>
                <a:spcPct val="120000"/>
              </a:lnSpc>
              <a:buNone/>
            </a:pPr>
            <a:r>
              <a:rPr lang="en-US" sz="1150" dirty="0">
                <a:solidFill>
                  <a:srgbClr val="F8FAFC"/>
                </a:solidFill>
                <a:latin typeface="Calibri" pitchFamily="34" charset="0"/>
                <a:ea typeface="Calibri" pitchFamily="34" charset="-122"/>
                <a:cs typeface="Calibri" pitchFamily="34" charset="-120"/>
              </a:rPr>
              <a:t>Read/write throughput, storage utilization</a:t>
            </a:r>
            <a:endParaRPr lang="en-US" sz="1150" dirty="0"/>
          </a:p>
        </p:txBody>
      </p:sp>
      <p:sp>
        <p:nvSpPr>
          <p:cNvPr id="22" name="Shape 20"/>
          <p:cNvSpPr/>
          <p:nvPr/>
        </p:nvSpPr>
        <p:spPr>
          <a:xfrm>
            <a:off x="5230368" y="4480560"/>
            <a:ext cx="1810512" cy="0"/>
          </a:xfrm>
          <a:prstGeom prst="line">
            <a:avLst/>
          </a:prstGeom>
          <a:noFill/>
          <a:ln w="12700">
            <a:solidFill>
              <a:srgbClr val="334155"/>
            </a:solidFill>
            <a:prstDash val="solid"/>
          </a:ln>
        </p:spPr>
      </p:sp>
      <p:sp>
        <p:nvSpPr>
          <p:cNvPr id="23" name="Text 21"/>
          <p:cNvSpPr/>
          <p:nvPr/>
        </p:nvSpPr>
        <p:spPr>
          <a:xfrm>
            <a:off x="5230368" y="4617720"/>
            <a:ext cx="1810512" cy="274320"/>
          </a:xfrm>
          <a:prstGeom prst="rect">
            <a:avLst/>
          </a:prstGeom>
          <a:noFill/>
          <a:ln/>
        </p:spPr>
        <p:txBody>
          <a:bodyPr wrap="square" lIns="0" tIns="0" rIns="0" bIns="0" rtlCol="0" anchor="ctr"/>
          <a:lstStyle/>
          <a:p>
            <a:pPr marL="0" indent="0">
              <a:buNone/>
            </a:pPr>
            <a:r>
              <a:rPr lang="en-US" sz="950" b="1" dirty="0">
                <a:solidFill>
                  <a:srgbClr val="38BDF8"/>
                </a:solidFill>
                <a:latin typeface="Calibri" pitchFamily="34" charset="0"/>
                <a:ea typeface="Calibri" pitchFamily="34" charset="-122"/>
                <a:cs typeface="Calibri" pitchFamily="34" charset="-120"/>
              </a:rPr>
              <a:t>OS Concepts</a:t>
            </a:r>
            <a:endParaRPr lang="en-US" sz="950" dirty="0"/>
          </a:p>
        </p:txBody>
      </p:sp>
      <p:sp>
        <p:nvSpPr>
          <p:cNvPr id="24" name="Text 22"/>
          <p:cNvSpPr/>
          <p:nvPr/>
        </p:nvSpPr>
        <p:spPr>
          <a:xfrm>
            <a:off x="5230368" y="4892040"/>
            <a:ext cx="1810512" cy="822960"/>
          </a:xfrm>
          <a:prstGeom prst="rect">
            <a:avLst/>
          </a:prstGeom>
          <a:noFill/>
          <a:ln/>
        </p:spPr>
        <p:txBody>
          <a:bodyPr wrap="square" lIns="0" tIns="0" rIns="0" bIns="0"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File System · Disk Scheduling</a:t>
            </a:r>
            <a:endParaRPr lang="en-US" sz="1050" dirty="0"/>
          </a:p>
        </p:txBody>
      </p:sp>
      <p:sp>
        <p:nvSpPr>
          <p:cNvPr id="25" name="Shape 23"/>
          <p:cNvSpPr/>
          <p:nvPr/>
        </p:nvSpPr>
        <p:spPr>
          <a:xfrm>
            <a:off x="7324344" y="1691640"/>
            <a:ext cx="2139696" cy="4206240"/>
          </a:xfrm>
          <a:prstGeom prst="roundRect">
            <a:avLst>
              <a:gd name="adj" fmla="val 4274"/>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26" name="Shape 24"/>
          <p:cNvSpPr/>
          <p:nvPr/>
        </p:nvSpPr>
        <p:spPr>
          <a:xfrm>
            <a:off x="8074152" y="1965960"/>
            <a:ext cx="640080" cy="640080"/>
          </a:xfrm>
          <a:prstGeom prst="ellipse">
            <a:avLst/>
          </a:prstGeom>
          <a:solidFill>
            <a:srgbClr val="2563EB"/>
          </a:solidFill>
          <a:ln/>
        </p:spPr>
      </p:sp>
      <p:sp>
        <p:nvSpPr>
          <p:cNvPr id="27" name="Text 25"/>
          <p:cNvSpPr/>
          <p:nvPr/>
        </p:nvSpPr>
        <p:spPr>
          <a:xfrm>
            <a:off x="8074152" y="1965960"/>
            <a:ext cx="640080" cy="64008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NET</a:t>
            </a:r>
            <a:endParaRPr lang="en-US" sz="1300" dirty="0"/>
          </a:p>
        </p:txBody>
      </p:sp>
      <p:sp>
        <p:nvSpPr>
          <p:cNvPr id="28" name="Text 26"/>
          <p:cNvSpPr/>
          <p:nvPr/>
        </p:nvSpPr>
        <p:spPr>
          <a:xfrm>
            <a:off x="7488936" y="2834640"/>
            <a:ext cx="1810512" cy="1554480"/>
          </a:xfrm>
          <a:prstGeom prst="rect">
            <a:avLst/>
          </a:prstGeom>
          <a:noFill/>
          <a:ln/>
        </p:spPr>
        <p:txBody>
          <a:bodyPr wrap="square" lIns="0" tIns="0" rIns="0" bIns="0" rtlCol="0" anchor="t"/>
          <a:lstStyle/>
          <a:p>
            <a:pPr marL="0" indent="0">
              <a:lnSpc>
                <a:spcPct val="120000"/>
              </a:lnSpc>
              <a:buNone/>
            </a:pPr>
            <a:r>
              <a:rPr lang="en-US" sz="1150" dirty="0">
                <a:solidFill>
                  <a:srgbClr val="F8FAFC"/>
                </a:solidFill>
                <a:latin typeface="Calibri" pitchFamily="34" charset="0"/>
                <a:ea typeface="Calibri" pitchFamily="34" charset="-122"/>
                <a:cs typeface="Calibri" pitchFamily="34" charset="-120"/>
              </a:rPr>
              <a:t>Bytes sent/received, packet activity</a:t>
            </a:r>
            <a:endParaRPr lang="en-US" sz="1150" dirty="0"/>
          </a:p>
        </p:txBody>
      </p:sp>
      <p:sp>
        <p:nvSpPr>
          <p:cNvPr id="29" name="Shape 27"/>
          <p:cNvSpPr/>
          <p:nvPr/>
        </p:nvSpPr>
        <p:spPr>
          <a:xfrm>
            <a:off x="7488936" y="4480560"/>
            <a:ext cx="1810512" cy="0"/>
          </a:xfrm>
          <a:prstGeom prst="line">
            <a:avLst/>
          </a:prstGeom>
          <a:noFill/>
          <a:ln w="12700">
            <a:solidFill>
              <a:srgbClr val="334155"/>
            </a:solidFill>
            <a:prstDash val="solid"/>
          </a:ln>
        </p:spPr>
      </p:sp>
      <p:sp>
        <p:nvSpPr>
          <p:cNvPr id="30" name="Text 28"/>
          <p:cNvSpPr/>
          <p:nvPr/>
        </p:nvSpPr>
        <p:spPr>
          <a:xfrm>
            <a:off x="7488936" y="4617720"/>
            <a:ext cx="1810512" cy="274320"/>
          </a:xfrm>
          <a:prstGeom prst="rect">
            <a:avLst/>
          </a:prstGeom>
          <a:noFill/>
          <a:ln/>
        </p:spPr>
        <p:txBody>
          <a:bodyPr wrap="square" lIns="0" tIns="0" rIns="0" bIns="0" rtlCol="0" anchor="ctr"/>
          <a:lstStyle/>
          <a:p>
            <a:pPr marL="0" indent="0">
              <a:buNone/>
            </a:pPr>
            <a:r>
              <a:rPr lang="en-US" sz="950" b="1" dirty="0">
                <a:solidFill>
                  <a:srgbClr val="38BDF8"/>
                </a:solidFill>
                <a:latin typeface="Calibri" pitchFamily="34" charset="0"/>
                <a:ea typeface="Calibri" pitchFamily="34" charset="-122"/>
                <a:cs typeface="Calibri" pitchFamily="34" charset="-120"/>
              </a:rPr>
              <a:t>OS Concepts</a:t>
            </a:r>
            <a:endParaRPr lang="en-US" sz="950" dirty="0"/>
          </a:p>
        </p:txBody>
      </p:sp>
      <p:sp>
        <p:nvSpPr>
          <p:cNvPr id="31" name="Text 29"/>
          <p:cNvSpPr/>
          <p:nvPr/>
        </p:nvSpPr>
        <p:spPr>
          <a:xfrm>
            <a:off x="7488936" y="4892040"/>
            <a:ext cx="1810512" cy="822960"/>
          </a:xfrm>
          <a:prstGeom prst="rect">
            <a:avLst/>
          </a:prstGeom>
          <a:noFill/>
          <a:ln/>
        </p:spPr>
        <p:txBody>
          <a:bodyPr wrap="square" lIns="0" tIns="0" rIns="0" bIns="0"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I/O Management · Sockets</a:t>
            </a:r>
            <a:endParaRPr lang="en-US" sz="1050" dirty="0"/>
          </a:p>
        </p:txBody>
      </p:sp>
      <p:sp>
        <p:nvSpPr>
          <p:cNvPr id="32" name="Shape 30"/>
          <p:cNvSpPr/>
          <p:nvPr/>
        </p:nvSpPr>
        <p:spPr>
          <a:xfrm>
            <a:off x="9582912" y="1691640"/>
            <a:ext cx="2139696" cy="4206240"/>
          </a:xfrm>
          <a:prstGeom prst="roundRect">
            <a:avLst>
              <a:gd name="adj" fmla="val 4274"/>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33" name="Shape 31"/>
          <p:cNvSpPr/>
          <p:nvPr/>
        </p:nvSpPr>
        <p:spPr>
          <a:xfrm>
            <a:off x="10332720" y="1965960"/>
            <a:ext cx="640080" cy="640080"/>
          </a:xfrm>
          <a:prstGeom prst="ellipse">
            <a:avLst/>
          </a:prstGeom>
          <a:solidFill>
            <a:srgbClr val="2563EB"/>
          </a:solidFill>
          <a:ln/>
        </p:spPr>
      </p:sp>
      <p:sp>
        <p:nvSpPr>
          <p:cNvPr id="34" name="Text 32"/>
          <p:cNvSpPr/>
          <p:nvPr/>
        </p:nvSpPr>
        <p:spPr>
          <a:xfrm>
            <a:off x="10332720" y="1965960"/>
            <a:ext cx="640080" cy="640080"/>
          </a:xfrm>
          <a:prstGeom prst="rect">
            <a:avLst/>
          </a:prstGeom>
          <a:noFill/>
          <a:ln/>
        </p:spPr>
        <p:txBody>
          <a:bodyPr wrap="square" lIns="0" tIns="0" rIns="0" bIns="0" rtlCol="0" anchor="ctr"/>
          <a:lstStyle/>
          <a:p>
            <a:pPr marL="0" indent="0" algn="ctr">
              <a:buNone/>
            </a:pPr>
            <a:r>
              <a:rPr lang="en-US" sz="1300" b="1" dirty="0">
                <a:solidFill>
                  <a:srgbClr val="F8FAFC"/>
                </a:solidFill>
                <a:latin typeface="Calibri" pitchFamily="34" charset="0"/>
                <a:ea typeface="Calibri" pitchFamily="34" charset="-122"/>
                <a:cs typeface="Calibri" pitchFamily="34" charset="-120"/>
              </a:rPr>
              <a:t>PROC</a:t>
            </a:r>
            <a:endParaRPr lang="en-US" sz="1300" dirty="0"/>
          </a:p>
        </p:txBody>
      </p:sp>
      <p:sp>
        <p:nvSpPr>
          <p:cNvPr id="35" name="Text 33"/>
          <p:cNvSpPr/>
          <p:nvPr/>
        </p:nvSpPr>
        <p:spPr>
          <a:xfrm>
            <a:off x="9747504" y="2834640"/>
            <a:ext cx="1810512" cy="1554480"/>
          </a:xfrm>
          <a:prstGeom prst="rect">
            <a:avLst/>
          </a:prstGeom>
          <a:noFill/>
          <a:ln/>
        </p:spPr>
        <p:txBody>
          <a:bodyPr wrap="square" lIns="0" tIns="0" rIns="0" bIns="0" rtlCol="0" anchor="t"/>
          <a:lstStyle/>
          <a:p>
            <a:pPr marL="0" indent="0">
              <a:lnSpc>
                <a:spcPct val="120000"/>
              </a:lnSpc>
              <a:buNone/>
            </a:pPr>
            <a:r>
              <a:rPr lang="en-US" sz="1150" dirty="0">
                <a:solidFill>
                  <a:srgbClr val="F8FAFC"/>
                </a:solidFill>
                <a:latin typeface="Calibri" pitchFamily="34" charset="0"/>
                <a:ea typeface="Calibri" pitchFamily="34" charset="-122"/>
                <a:cs typeface="Calibri" pitchFamily="34" charset="-120"/>
              </a:rPr>
              <a:t>Live process list, PID, state, resource use</a:t>
            </a:r>
            <a:endParaRPr lang="en-US" sz="1150" dirty="0"/>
          </a:p>
        </p:txBody>
      </p:sp>
      <p:sp>
        <p:nvSpPr>
          <p:cNvPr id="36" name="Shape 34"/>
          <p:cNvSpPr/>
          <p:nvPr/>
        </p:nvSpPr>
        <p:spPr>
          <a:xfrm>
            <a:off x="9747504" y="4480560"/>
            <a:ext cx="1810512" cy="0"/>
          </a:xfrm>
          <a:prstGeom prst="line">
            <a:avLst/>
          </a:prstGeom>
          <a:noFill/>
          <a:ln w="12700">
            <a:solidFill>
              <a:srgbClr val="334155"/>
            </a:solidFill>
            <a:prstDash val="solid"/>
          </a:ln>
        </p:spPr>
      </p:sp>
      <p:sp>
        <p:nvSpPr>
          <p:cNvPr id="37" name="Text 35"/>
          <p:cNvSpPr/>
          <p:nvPr/>
        </p:nvSpPr>
        <p:spPr>
          <a:xfrm>
            <a:off x="9747504" y="4617720"/>
            <a:ext cx="1810512" cy="274320"/>
          </a:xfrm>
          <a:prstGeom prst="rect">
            <a:avLst/>
          </a:prstGeom>
          <a:noFill/>
          <a:ln/>
        </p:spPr>
        <p:txBody>
          <a:bodyPr wrap="square" lIns="0" tIns="0" rIns="0" bIns="0" rtlCol="0" anchor="ctr"/>
          <a:lstStyle/>
          <a:p>
            <a:pPr marL="0" indent="0">
              <a:buNone/>
            </a:pPr>
            <a:r>
              <a:rPr lang="en-US" sz="950" b="1" dirty="0">
                <a:solidFill>
                  <a:srgbClr val="38BDF8"/>
                </a:solidFill>
                <a:latin typeface="Calibri" pitchFamily="34" charset="0"/>
                <a:ea typeface="Calibri" pitchFamily="34" charset="-122"/>
                <a:cs typeface="Calibri" pitchFamily="34" charset="-120"/>
              </a:rPr>
              <a:t>OS Concepts</a:t>
            </a:r>
            <a:endParaRPr lang="en-US" sz="950" dirty="0"/>
          </a:p>
        </p:txBody>
      </p:sp>
      <p:sp>
        <p:nvSpPr>
          <p:cNvPr id="38" name="Text 36"/>
          <p:cNvSpPr/>
          <p:nvPr/>
        </p:nvSpPr>
        <p:spPr>
          <a:xfrm>
            <a:off x="9747504" y="4892040"/>
            <a:ext cx="1810512" cy="822960"/>
          </a:xfrm>
          <a:prstGeom prst="rect">
            <a:avLst/>
          </a:prstGeom>
          <a:noFill/>
          <a:ln/>
        </p:spPr>
        <p:txBody>
          <a:bodyPr wrap="square" lIns="0" tIns="0" rIns="0" bIns="0"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PCB · Process Scheduling</a:t>
            </a:r>
            <a:endParaRPr lang="en-US" sz="1050" dirty="0"/>
          </a:p>
        </p:txBody>
      </p:sp>
      <p:sp>
        <p:nvSpPr>
          <p:cNvPr id="39" name="Text 37"/>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40" name="Text 38"/>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08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DESIGN</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System Architecture</a:t>
            </a:r>
            <a:endParaRPr lang="en-US" sz="3000" dirty="0"/>
          </a:p>
        </p:txBody>
      </p:sp>
      <p:sp>
        <p:nvSpPr>
          <p:cNvPr id="4" name="Shape 2"/>
          <p:cNvSpPr/>
          <p:nvPr/>
        </p:nvSpPr>
        <p:spPr>
          <a:xfrm>
            <a:off x="1828800" y="1645920"/>
            <a:ext cx="8503920" cy="713232"/>
          </a:xfrm>
          <a:prstGeom prst="roundRect">
            <a:avLst>
              <a:gd name="adj" fmla="val 10256"/>
            </a:avLst>
          </a:prstGeom>
          <a:solidFill>
            <a:srgbClr val="24304A"/>
          </a:solidFill>
          <a:ln w="12700">
            <a:solidFill>
              <a:srgbClr val="334155"/>
            </a:solidFill>
            <a:prstDash val="solid"/>
          </a:ln>
        </p:spPr>
      </p:sp>
      <p:sp>
        <p:nvSpPr>
          <p:cNvPr id="5" name="Text 3"/>
          <p:cNvSpPr/>
          <p:nvPr/>
        </p:nvSpPr>
        <p:spPr>
          <a:xfrm>
            <a:off x="2057400" y="1645920"/>
            <a:ext cx="2377440" cy="713232"/>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Presentation Layer</a:t>
            </a:r>
            <a:endParaRPr lang="en-US" sz="1300" dirty="0"/>
          </a:p>
        </p:txBody>
      </p:sp>
      <p:sp>
        <p:nvSpPr>
          <p:cNvPr id="6" name="Text 4"/>
          <p:cNvSpPr/>
          <p:nvPr/>
        </p:nvSpPr>
        <p:spPr>
          <a:xfrm>
            <a:off x="4480560" y="1645920"/>
            <a:ext cx="5623560" cy="71323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Web Dashboard — HTML · CSS · JavaScript · Chart.js</a:t>
            </a:r>
            <a:endParaRPr lang="en-US" sz="1150" dirty="0"/>
          </a:p>
        </p:txBody>
      </p:sp>
      <p:sp>
        <p:nvSpPr>
          <p:cNvPr id="7" name="Shape 5"/>
          <p:cNvSpPr/>
          <p:nvPr/>
        </p:nvSpPr>
        <p:spPr>
          <a:xfrm>
            <a:off x="5998464" y="2363724"/>
            <a:ext cx="164592" cy="100584"/>
          </a:xfrm>
          <a:prstGeom prst="downArrow">
            <a:avLst/>
          </a:prstGeom>
          <a:solidFill>
            <a:srgbClr val="64748B"/>
          </a:solidFill>
          <a:ln/>
        </p:spPr>
      </p:sp>
      <p:sp>
        <p:nvSpPr>
          <p:cNvPr id="8" name="Shape 6"/>
          <p:cNvSpPr/>
          <p:nvPr/>
        </p:nvSpPr>
        <p:spPr>
          <a:xfrm>
            <a:off x="1828800" y="2468880"/>
            <a:ext cx="8503920" cy="713232"/>
          </a:xfrm>
          <a:prstGeom prst="roundRect">
            <a:avLst>
              <a:gd name="adj" fmla="val 10256"/>
            </a:avLst>
          </a:prstGeom>
          <a:solidFill>
            <a:srgbClr val="2563EB"/>
          </a:solidFill>
          <a:ln w="12700">
            <a:solidFill>
              <a:srgbClr val="334155"/>
            </a:solidFill>
            <a:prstDash val="solid"/>
          </a:ln>
        </p:spPr>
      </p:sp>
      <p:sp>
        <p:nvSpPr>
          <p:cNvPr id="9" name="Text 7"/>
          <p:cNvSpPr/>
          <p:nvPr/>
        </p:nvSpPr>
        <p:spPr>
          <a:xfrm>
            <a:off x="2057400" y="2468880"/>
            <a:ext cx="2377440" cy="713232"/>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Application Layer</a:t>
            </a:r>
            <a:endParaRPr lang="en-US" sz="1300" dirty="0"/>
          </a:p>
        </p:txBody>
      </p:sp>
      <p:sp>
        <p:nvSpPr>
          <p:cNvPr id="10" name="Text 8"/>
          <p:cNvSpPr/>
          <p:nvPr/>
        </p:nvSpPr>
        <p:spPr>
          <a:xfrm>
            <a:off x="4480560" y="2468880"/>
            <a:ext cx="5623560" cy="713232"/>
          </a:xfrm>
          <a:prstGeom prst="rect">
            <a:avLst/>
          </a:prstGeom>
          <a:noFill/>
          <a:ln/>
        </p:spPr>
        <p:txBody>
          <a:bodyPr wrap="square" lIns="0" tIns="0" rIns="0" bIns="0" rtlCol="0" anchor="ctr"/>
          <a:lstStyle/>
          <a:p>
            <a:pPr marL="0" indent="0">
              <a:buNone/>
            </a:pPr>
            <a:r>
              <a:rPr lang="en-US" sz="1150" dirty="0">
                <a:solidFill>
                  <a:srgbClr val="DBEAFE"/>
                </a:solidFill>
                <a:latin typeface="Calibri" pitchFamily="34" charset="0"/>
                <a:ea typeface="Calibri" pitchFamily="34" charset="-122"/>
                <a:cs typeface="Calibri" pitchFamily="34" charset="-120"/>
              </a:rPr>
              <a:t>FastAPI Backend — REST endpoints, request handling</a:t>
            </a:r>
            <a:endParaRPr lang="en-US" sz="1150" dirty="0"/>
          </a:p>
        </p:txBody>
      </p:sp>
      <p:sp>
        <p:nvSpPr>
          <p:cNvPr id="11" name="Shape 9"/>
          <p:cNvSpPr/>
          <p:nvPr/>
        </p:nvSpPr>
        <p:spPr>
          <a:xfrm>
            <a:off x="5998464" y="3186684"/>
            <a:ext cx="164592" cy="100584"/>
          </a:xfrm>
          <a:prstGeom prst="downArrow">
            <a:avLst/>
          </a:prstGeom>
          <a:solidFill>
            <a:srgbClr val="64748B"/>
          </a:solidFill>
          <a:ln/>
        </p:spPr>
      </p:sp>
      <p:sp>
        <p:nvSpPr>
          <p:cNvPr id="12" name="Shape 10"/>
          <p:cNvSpPr/>
          <p:nvPr/>
        </p:nvSpPr>
        <p:spPr>
          <a:xfrm>
            <a:off x="1828800" y="3291840"/>
            <a:ext cx="8503920" cy="713232"/>
          </a:xfrm>
          <a:prstGeom prst="roundRect">
            <a:avLst>
              <a:gd name="adj" fmla="val 10256"/>
            </a:avLst>
          </a:prstGeom>
          <a:solidFill>
            <a:srgbClr val="38BDF8"/>
          </a:solidFill>
          <a:ln w="12700">
            <a:solidFill>
              <a:srgbClr val="334155"/>
            </a:solidFill>
            <a:prstDash val="solid"/>
          </a:ln>
        </p:spPr>
      </p:sp>
      <p:sp>
        <p:nvSpPr>
          <p:cNvPr id="13" name="Text 11"/>
          <p:cNvSpPr/>
          <p:nvPr/>
        </p:nvSpPr>
        <p:spPr>
          <a:xfrm>
            <a:off x="2057400" y="3291840"/>
            <a:ext cx="2377440" cy="713232"/>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OS Interface Layer</a:t>
            </a:r>
            <a:endParaRPr lang="en-US" sz="1300" dirty="0"/>
          </a:p>
        </p:txBody>
      </p:sp>
      <p:sp>
        <p:nvSpPr>
          <p:cNvPr id="14" name="Text 12"/>
          <p:cNvSpPr/>
          <p:nvPr/>
        </p:nvSpPr>
        <p:spPr>
          <a:xfrm>
            <a:off x="4480560" y="3291840"/>
            <a:ext cx="5623560" cy="713232"/>
          </a:xfrm>
          <a:prstGeom prst="rect">
            <a:avLst/>
          </a:prstGeom>
          <a:noFill/>
          <a:ln/>
        </p:spPr>
        <p:txBody>
          <a:bodyPr wrap="square" lIns="0" tIns="0" rIns="0" bIns="0" rtlCol="0" anchor="ctr"/>
          <a:lstStyle/>
          <a:p>
            <a:pPr marL="0" indent="0">
              <a:buNone/>
            </a:pPr>
            <a:r>
              <a:rPr lang="en-US" sz="1150" dirty="0">
                <a:solidFill>
                  <a:srgbClr val="0B3B57"/>
                </a:solidFill>
                <a:latin typeface="Calibri" pitchFamily="34" charset="0"/>
                <a:ea typeface="Calibri" pitchFamily="34" charset="-122"/>
                <a:cs typeface="Calibri" pitchFamily="34" charset="-120"/>
              </a:rPr>
              <a:t>psutil — reads live CPU / Memory / Disk / Network / Process data from the kernel</a:t>
            </a:r>
            <a:endParaRPr lang="en-US" sz="1150" dirty="0"/>
          </a:p>
        </p:txBody>
      </p:sp>
      <p:sp>
        <p:nvSpPr>
          <p:cNvPr id="15" name="Shape 13"/>
          <p:cNvSpPr/>
          <p:nvPr/>
        </p:nvSpPr>
        <p:spPr>
          <a:xfrm>
            <a:off x="5998464" y="4009644"/>
            <a:ext cx="164592" cy="100584"/>
          </a:xfrm>
          <a:prstGeom prst="downArrow">
            <a:avLst/>
          </a:prstGeom>
          <a:solidFill>
            <a:srgbClr val="64748B"/>
          </a:solidFill>
          <a:ln/>
        </p:spPr>
      </p:sp>
      <p:sp>
        <p:nvSpPr>
          <p:cNvPr id="16" name="Shape 14"/>
          <p:cNvSpPr/>
          <p:nvPr/>
        </p:nvSpPr>
        <p:spPr>
          <a:xfrm>
            <a:off x="1828800" y="4114800"/>
            <a:ext cx="8503920" cy="713232"/>
          </a:xfrm>
          <a:prstGeom prst="roundRect">
            <a:avLst>
              <a:gd name="adj" fmla="val 10256"/>
            </a:avLst>
          </a:prstGeom>
          <a:solidFill>
            <a:srgbClr val="24304A"/>
          </a:solidFill>
          <a:ln w="12700">
            <a:solidFill>
              <a:srgbClr val="334155"/>
            </a:solidFill>
            <a:prstDash val="solid"/>
          </a:ln>
        </p:spPr>
      </p:sp>
      <p:sp>
        <p:nvSpPr>
          <p:cNvPr id="17" name="Text 15"/>
          <p:cNvSpPr/>
          <p:nvPr/>
        </p:nvSpPr>
        <p:spPr>
          <a:xfrm>
            <a:off x="2057400" y="4114800"/>
            <a:ext cx="2377440" cy="713232"/>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Analytics Layer</a:t>
            </a:r>
            <a:endParaRPr lang="en-US" sz="1300" dirty="0"/>
          </a:p>
        </p:txBody>
      </p:sp>
      <p:sp>
        <p:nvSpPr>
          <p:cNvPr id="18" name="Text 16"/>
          <p:cNvSpPr/>
          <p:nvPr/>
        </p:nvSpPr>
        <p:spPr>
          <a:xfrm>
            <a:off x="4480560" y="4114800"/>
            <a:ext cx="5623560" cy="71323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Scikit-learn — anomaly detection, prediction, recommendations</a:t>
            </a:r>
            <a:endParaRPr lang="en-US" sz="1150" dirty="0"/>
          </a:p>
        </p:txBody>
      </p:sp>
      <p:sp>
        <p:nvSpPr>
          <p:cNvPr id="19" name="Shape 17"/>
          <p:cNvSpPr/>
          <p:nvPr/>
        </p:nvSpPr>
        <p:spPr>
          <a:xfrm>
            <a:off x="5998464" y="4832604"/>
            <a:ext cx="164592" cy="100584"/>
          </a:xfrm>
          <a:prstGeom prst="downArrow">
            <a:avLst/>
          </a:prstGeom>
          <a:solidFill>
            <a:srgbClr val="64748B"/>
          </a:solidFill>
          <a:ln/>
        </p:spPr>
      </p:sp>
      <p:sp>
        <p:nvSpPr>
          <p:cNvPr id="20" name="Shape 18"/>
          <p:cNvSpPr/>
          <p:nvPr/>
        </p:nvSpPr>
        <p:spPr>
          <a:xfrm>
            <a:off x="1828800" y="4937760"/>
            <a:ext cx="8503920" cy="713232"/>
          </a:xfrm>
          <a:prstGeom prst="roundRect">
            <a:avLst>
              <a:gd name="adj" fmla="val 10256"/>
            </a:avLst>
          </a:prstGeom>
          <a:solidFill>
            <a:srgbClr val="24304A"/>
          </a:solidFill>
          <a:ln w="12700">
            <a:solidFill>
              <a:srgbClr val="334155"/>
            </a:solidFill>
            <a:prstDash val="solid"/>
          </a:ln>
        </p:spPr>
      </p:sp>
      <p:sp>
        <p:nvSpPr>
          <p:cNvPr id="21" name="Text 19"/>
          <p:cNvSpPr/>
          <p:nvPr/>
        </p:nvSpPr>
        <p:spPr>
          <a:xfrm>
            <a:off x="2057400" y="4937760"/>
            <a:ext cx="2377440" cy="713232"/>
          </a:xfrm>
          <a:prstGeom prst="rect">
            <a:avLst/>
          </a:prstGeom>
          <a:noFill/>
          <a:ln/>
        </p:spPr>
        <p:txBody>
          <a:bodyPr wrap="square" lIns="0" tIns="0" rIns="0" bIns="0" rtlCol="0" anchor="ctr"/>
          <a:lstStyle/>
          <a:p>
            <a:pPr marL="0" indent="0">
              <a:buNone/>
            </a:pPr>
            <a:r>
              <a:rPr lang="en-US" sz="1300" b="1" dirty="0">
                <a:solidFill>
                  <a:srgbClr val="F8FAFC"/>
                </a:solidFill>
                <a:latin typeface="Calibri" pitchFamily="34" charset="0"/>
                <a:ea typeface="Calibri" pitchFamily="34" charset="-122"/>
                <a:cs typeface="Calibri" pitchFamily="34" charset="-120"/>
              </a:rPr>
              <a:t>Data Layer</a:t>
            </a:r>
            <a:endParaRPr lang="en-US" sz="1300" dirty="0"/>
          </a:p>
        </p:txBody>
      </p:sp>
      <p:sp>
        <p:nvSpPr>
          <p:cNvPr id="22" name="Text 20"/>
          <p:cNvSpPr/>
          <p:nvPr/>
        </p:nvSpPr>
        <p:spPr>
          <a:xfrm>
            <a:off x="4480560" y="4937760"/>
            <a:ext cx="5623560" cy="713232"/>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SQLite / Supabase — historical resource-usage storage</a:t>
            </a:r>
            <a:endParaRPr lang="en-US" sz="1150" dirty="0"/>
          </a:p>
        </p:txBody>
      </p:sp>
      <p:sp>
        <p:nvSpPr>
          <p:cNvPr id="23" name="Text 21"/>
          <p:cNvSpPr/>
          <p:nvPr/>
        </p:nvSpPr>
        <p:spPr>
          <a:xfrm>
            <a:off x="1828800" y="5806440"/>
            <a:ext cx="8503920" cy="45720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Hardware / OS Kernel  (CPU · RAM · Disk · NIC)</a:t>
            </a:r>
            <a:endParaRPr lang="en-US" sz="1100" dirty="0"/>
          </a:p>
        </p:txBody>
      </p:sp>
      <p:sp>
        <p:nvSpPr>
          <p:cNvPr id="24" name="Text 22"/>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25" name="Text 23"/>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09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ENHANCEMENT LAYER · 30%</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Artificial Intelligence Module</a:t>
            </a:r>
            <a:endParaRPr lang="en-US" sz="3000" dirty="0"/>
          </a:p>
        </p:txBody>
      </p:sp>
      <p:sp>
        <p:nvSpPr>
          <p:cNvPr id="4" name="Text 2"/>
          <p:cNvSpPr/>
          <p:nvPr/>
        </p:nvSpPr>
        <p:spPr>
          <a:xfrm>
            <a:off x="548640" y="1572768"/>
            <a:ext cx="10881360" cy="457200"/>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AI does not replace OS monitoring — it interprets the OS data this project already collects to add foresight.</a:t>
            </a:r>
            <a:endParaRPr lang="en-US" sz="1300" dirty="0"/>
          </a:p>
        </p:txBody>
      </p:sp>
      <p:sp>
        <p:nvSpPr>
          <p:cNvPr id="5" name="Shape 3"/>
          <p:cNvSpPr/>
          <p:nvPr/>
        </p:nvSpPr>
        <p:spPr>
          <a:xfrm>
            <a:off x="548640" y="2331720"/>
            <a:ext cx="2051914" cy="2103120"/>
          </a:xfrm>
          <a:prstGeom prst="roundRect">
            <a:avLst>
              <a:gd name="adj" fmla="val 4456"/>
            </a:avLst>
          </a:prstGeom>
          <a:solidFill>
            <a:srgbClr val="2563EB"/>
          </a:solidFill>
          <a:ln w="12700">
            <a:solidFill>
              <a:srgbClr val="334155"/>
            </a:solidFill>
            <a:prstDash val="solid"/>
          </a:ln>
          <a:effectLst>
            <a:outerShdw blurRad="101600" dist="38100" dir="5400000" algn="bl" rotWithShape="0">
              <a:srgbClr val="000000">
                <a:alpha val="35000"/>
              </a:srgbClr>
            </a:outerShdw>
          </a:effectLst>
        </p:spPr>
      </p:sp>
      <p:sp>
        <p:nvSpPr>
          <p:cNvPr id="6" name="Shape 4"/>
          <p:cNvSpPr/>
          <p:nvPr/>
        </p:nvSpPr>
        <p:spPr>
          <a:xfrm>
            <a:off x="1323137" y="2532888"/>
            <a:ext cx="502920" cy="502920"/>
          </a:xfrm>
          <a:prstGeom prst="ellipse">
            <a:avLst/>
          </a:prstGeom>
          <a:solidFill>
            <a:srgbClr val="38BDF8"/>
          </a:solidFill>
          <a:ln/>
        </p:spPr>
      </p:sp>
      <p:sp>
        <p:nvSpPr>
          <p:cNvPr id="7" name="Text 5"/>
          <p:cNvSpPr/>
          <p:nvPr/>
        </p:nvSpPr>
        <p:spPr>
          <a:xfrm>
            <a:off x="1323137" y="2532888"/>
            <a:ext cx="502920" cy="5029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685800" y="3154680"/>
            <a:ext cx="1777594" cy="54864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Data Collection</a:t>
            </a:r>
            <a:endParaRPr lang="en-US" sz="1200" dirty="0"/>
          </a:p>
        </p:txBody>
      </p:sp>
      <p:sp>
        <p:nvSpPr>
          <p:cNvPr id="9" name="Text 7"/>
          <p:cNvSpPr/>
          <p:nvPr/>
        </p:nvSpPr>
        <p:spPr>
          <a:xfrm>
            <a:off x="685800" y="3703320"/>
            <a:ext cx="1777594" cy="685800"/>
          </a:xfrm>
          <a:prstGeom prst="rect">
            <a:avLst/>
          </a:prstGeom>
          <a:noFill/>
          <a:ln/>
        </p:spPr>
        <p:txBody>
          <a:bodyPr wrap="square" lIns="0" tIns="0" rIns="0" bIns="0" rtlCol="0" anchor="ctr"/>
          <a:lstStyle/>
          <a:p>
            <a:pPr marL="0" indent="0" algn="ctr">
              <a:lnSpc>
                <a:spcPct val="110000"/>
              </a:lnSpc>
              <a:buNone/>
            </a:pPr>
            <a:r>
              <a:rPr lang="en-US" sz="1000" dirty="0">
                <a:solidFill>
                  <a:srgbClr val="DBEAFE"/>
                </a:solidFill>
                <a:latin typeface="Calibri" pitchFamily="34" charset="0"/>
                <a:ea typeface="Calibri" pitchFamily="34" charset="-122"/>
                <a:cs typeface="Calibri" pitchFamily="34" charset="-120"/>
              </a:rPr>
              <a:t>OS metrics gathered via psutil</a:t>
            </a:r>
            <a:endParaRPr lang="en-US" sz="1000" dirty="0"/>
          </a:p>
        </p:txBody>
      </p:sp>
      <p:sp>
        <p:nvSpPr>
          <p:cNvPr id="10" name="Shape 8"/>
          <p:cNvSpPr/>
          <p:nvPr/>
        </p:nvSpPr>
        <p:spPr>
          <a:xfrm>
            <a:off x="2618842" y="3310128"/>
            <a:ext cx="164592" cy="146304"/>
          </a:xfrm>
          <a:prstGeom prst="rightArrow">
            <a:avLst/>
          </a:prstGeom>
          <a:solidFill>
            <a:srgbClr val="64748B"/>
          </a:solidFill>
          <a:ln/>
        </p:spPr>
      </p:sp>
      <p:sp>
        <p:nvSpPr>
          <p:cNvPr id="11" name="Shape 9"/>
          <p:cNvSpPr/>
          <p:nvPr/>
        </p:nvSpPr>
        <p:spPr>
          <a:xfrm>
            <a:off x="2801722" y="2331720"/>
            <a:ext cx="2051914" cy="2103120"/>
          </a:xfrm>
          <a:prstGeom prst="roundRect">
            <a:avLst>
              <a:gd name="adj" fmla="val 4456"/>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12" name="Shape 10"/>
          <p:cNvSpPr/>
          <p:nvPr/>
        </p:nvSpPr>
        <p:spPr>
          <a:xfrm>
            <a:off x="3576218" y="2532888"/>
            <a:ext cx="502920" cy="502920"/>
          </a:xfrm>
          <a:prstGeom prst="ellipse">
            <a:avLst/>
          </a:prstGeom>
          <a:solidFill>
            <a:srgbClr val="38BDF8"/>
          </a:solidFill>
          <a:ln/>
        </p:spPr>
      </p:sp>
      <p:sp>
        <p:nvSpPr>
          <p:cNvPr id="13" name="Text 11"/>
          <p:cNvSpPr/>
          <p:nvPr/>
        </p:nvSpPr>
        <p:spPr>
          <a:xfrm>
            <a:off x="3576218" y="2532888"/>
            <a:ext cx="502920" cy="5029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2938882" y="3154680"/>
            <a:ext cx="1777594" cy="54864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Feature Engineering</a:t>
            </a:r>
            <a:endParaRPr lang="en-US" sz="1200" dirty="0"/>
          </a:p>
        </p:txBody>
      </p:sp>
      <p:sp>
        <p:nvSpPr>
          <p:cNvPr id="15" name="Text 13"/>
          <p:cNvSpPr/>
          <p:nvPr/>
        </p:nvSpPr>
        <p:spPr>
          <a:xfrm>
            <a:off x="2938882" y="3703320"/>
            <a:ext cx="1777594" cy="685800"/>
          </a:xfrm>
          <a:prstGeom prst="rect">
            <a:avLst/>
          </a:prstGeom>
          <a:noFill/>
          <a:ln/>
        </p:spPr>
        <p:txBody>
          <a:bodyPr wrap="square" lIns="0" tIns="0" rIns="0" bIns="0" rtlCol="0" anchor="ctr"/>
          <a:lstStyle/>
          <a:p>
            <a:pPr marL="0" indent="0" algn="ctr">
              <a:lnSpc>
                <a:spcPct val="110000"/>
              </a:lnSpc>
              <a:buNone/>
            </a:pPr>
            <a:r>
              <a:rPr lang="en-US" sz="1000" dirty="0">
                <a:solidFill>
                  <a:srgbClr val="94A3B8"/>
                </a:solidFill>
                <a:latin typeface="Calibri" pitchFamily="34" charset="0"/>
                <a:ea typeface="Calibri" pitchFamily="34" charset="-122"/>
                <a:cs typeface="Calibri" pitchFamily="34" charset="-120"/>
              </a:rPr>
              <a:t>Raw metrics shaped into model-ready features</a:t>
            </a:r>
            <a:endParaRPr lang="en-US" sz="1000" dirty="0"/>
          </a:p>
        </p:txBody>
      </p:sp>
      <p:sp>
        <p:nvSpPr>
          <p:cNvPr id="16" name="Shape 14"/>
          <p:cNvSpPr/>
          <p:nvPr/>
        </p:nvSpPr>
        <p:spPr>
          <a:xfrm>
            <a:off x="4871923" y="3310128"/>
            <a:ext cx="164592" cy="146304"/>
          </a:xfrm>
          <a:prstGeom prst="rightArrow">
            <a:avLst/>
          </a:prstGeom>
          <a:solidFill>
            <a:srgbClr val="64748B"/>
          </a:solidFill>
          <a:ln/>
        </p:spPr>
      </p:sp>
      <p:sp>
        <p:nvSpPr>
          <p:cNvPr id="17" name="Shape 15"/>
          <p:cNvSpPr/>
          <p:nvPr/>
        </p:nvSpPr>
        <p:spPr>
          <a:xfrm>
            <a:off x="5054803" y="2331720"/>
            <a:ext cx="2051914" cy="2103120"/>
          </a:xfrm>
          <a:prstGeom prst="roundRect">
            <a:avLst>
              <a:gd name="adj" fmla="val 4456"/>
            </a:avLst>
          </a:prstGeom>
          <a:solidFill>
            <a:srgbClr val="2563EB"/>
          </a:solidFill>
          <a:ln w="12700">
            <a:solidFill>
              <a:srgbClr val="334155"/>
            </a:solidFill>
            <a:prstDash val="solid"/>
          </a:ln>
          <a:effectLst>
            <a:outerShdw blurRad="101600" dist="38100" dir="5400000" algn="bl" rotWithShape="0">
              <a:srgbClr val="000000">
                <a:alpha val="35000"/>
              </a:srgbClr>
            </a:outerShdw>
          </a:effectLst>
        </p:spPr>
      </p:sp>
      <p:sp>
        <p:nvSpPr>
          <p:cNvPr id="18" name="Shape 16"/>
          <p:cNvSpPr/>
          <p:nvPr/>
        </p:nvSpPr>
        <p:spPr>
          <a:xfrm>
            <a:off x="5829300" y="2532888"/>
            <a:ext cx="502920" cy="502920"/>
          </a:xfrm>
          <a:prstGeom prst="ellipse">
            <a:avLst/>
          </a:prstGeom>
          <a:solidFill>
            <a:srgbClr val="38BDF8"/>
          </a:solidFill>
          <a:ln/>
        </p:spPr>
      </p:sp>
      <p:sp>
        <p:nvSpPr>
          <p:cNvPr id="19" name="Text 17"/>
          <p:cNvSpPr/>
          <p:nvPr/>
        </p:nvSpPr>
        <p:spPr>
          <a:xfrm>
            <a:off x="5829300" y="2532888"/>
            <a:ext cx="502920" cy="5029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5191963" y="3154680"/>
            <a:ext cx="1777594" cy="54864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Historical Dataset</a:t>
            </a:r>
            <a:endParaRPr lang="en-US" sz="1200" dirty="0"/>
          </a:p>
        </p:txBody>
      </p:sp>
      <p:sp>
        <p:nvSpPr>
          <p:cNvPr id="21" name="Text 19"/>
          <p:cNvSpPr/>
          <p:nvPr/>
        </p:nvSpPr>
        <p:spPr>
          <a:xfrm>
            <a:off x="5191963" y="3703320"/>
            <a:ext cx="1777594" cy="685800"/>
          </a:xfrm>
          <a:prstGeom prst="rect">
            <a:avLst/>
          </a:prstGeom>
          <a:noFill/>
          <a:ln/>
        </p:spPr>
        <p:txBody>
          <a:bodyPr wrap="square" lIns="0" tIns="0" rIns="0" bIns="0" rtlCol="0" anchor="ctr"/>
          <a:lstStyle/>
          <a:p>
            <a:pPr marL="0" indent="0" algn="ctr">
              <a:lnSpc>
                <a:spcPct val="110000"/>
              </a:lnSpc>
              <a:buNone/>
            </a:pPr>
            <a:r>
              <a:rPr lang="en-US" sz="1000" dirty="0">
                <a:solidFill>
                  <a:srgbClr val="DBEAFE"/>
                </a:solidFill>
                <a:latin typeface="Calibri" pitchFamily="34" charset="0"/>
                <a:ea typeface="Calibri" pitchFamily="34" charset="-122"/>
                <a:cs typeface="Calibri" pitchFamily="34" charset="-120"/>
              </a:rPr>
              <a:t>Stored time-series resource data</a:t>
            </a:r>
            <a:endParaRPr lang="en-US" sz="1000" dirty="0"/>
          </a:p>
        </p:txBody>
      </p:sp>
      <p:sp>
        <p:nvSpPr>
          <p:cNvPr id="22" name="Shape 20"/>
          <p:cNvSpPr/>
          <p:nvPr/>
        </p:nvSpPr>
        <p:spPr>
          <a:xfrm>
            <a:off x="7125005" y="3310128"/>
            <a:ext cx="164592" cy="146304"/>
          </a:xfrm>
          <a:prstGeom prst="rightArrow">
            <a:avLst/>
          </a:prstGeom>
          <a:solidFill>
            <a:srgbClr val="64748B"/>
          </a:solidFill>
          <a:ln/>
        </p:spPr>
      </p:sp>
      <p:sp>
        <p:nvSpPr>
          <p:cNvPr id="23" name="Shape 21"/>
          <p:cNvSpPr/>
          <p:nvPr/>
        </p:nvSpPr>
        <p:spPr>
          <a:xfrm>
            <a:off x="7307885" y="2331720"/>
            <a:ext cx="2051914" cy="2103120"/>
          </a:xfrm>
          <a:prstGeom prst="roundRect">
            <a:avLst>
              <a:gd name="adj" fmla="val 4456"/>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24" name="Shape 22"/>
          <p:cNvSpPr/>
          <p:nvPr/>
        </p:nvSpPr>
        <p:spPr>
          <a:xfrm>
            <a:off x="8082382" y="2532888"/>
            <a:ext cx="502920" cy="502920"/>
          </a:xfrm>
          <a:prstGeom prst="ellipse">
            <a:avLst/>
          </a:prstGeom>
          <a:solidFill>
            <a:srgbClr val="38BDF8"/>
          </a:solidFill>
          <a:ln/>
        </p:spPr>
      </p:sp>
      <p:sp>
        <p:nvSpPr>
          <p:cNvPr id="25" name="Text 23"/>
          <p:cNvSpPr/>
          <p:nvPr/>
        </p:nvSpPr>
        <p:spPr>
          <a:xfrm>
            <a:off x="8082382" y="2532888"/>
            <a:ext cx="502920" cy="5029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7445045" y="3154680"/>
            <a:ext cx="1777594" cy="54864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Prediction &amp; Anomaly Detection</a:t>
            </a:r>
            <a:endParaRPr lang="en-US" sz="1200" dirty="0"/>
          </a:p>
        </p:txBody>
      </p:sp>
      <p:sp>
        <p:nvSpPr>
          <p:cNvPr id="27" name="Text 25"/>
          <p:cNvSpPr/>
          <p:nvPr/>
        </p:nvSpPr>
        <p:spPr>
          <a:xfrm>
            <a:off x="7445045" y="3703320"/>
            <a:ext cx="1777594" cy="685800"/>
          </a:xfrm>
          <a:prstGeom prst="rect">
            <a:avLst/>
          </a:prstGeom>
          <a:noFill/>
          <a:ln/>
        </p:spPr>
        <p:txBody>
          <a:bodyPr wrap="square" lIns="0" tIns="0" rIns="0" bIns="0" rtlCol="0" anchor="ctr"/>
          <a:lstStyle/>
          <a:p>
            <a:pPr marL="0" indent="0" algn="ctr">
              <a:lnSpc>
                <a:spcPct val="110000"/>
              </a:lnSpc>
              <a:buNone/>
            </a:pPr>
            <a:r>
              <a:rPr lang="en-US" sz="1000" dirty="0">
                <a:solidFill>
                  <a:srgbClr val="94A3B8"/>
                </a:solidFill>
                <a:latin typeface="Calibri" pitchFamily="34" charset="0"/>
                <a:ea typeface="Calibri" pitchFamily="34" charset="-122"/>
                <a:cs typeface="Calibri" pitchFamily="34" charset="-120"/>
              </a:rPr>
              <a:t>Forecast future load, flag unusual behavior</a:t>
            </a:r>
            <a:endParaRPr lang="en-US" sz="1000" dirty="0"/>
          </a:p>
        </p:txBody>
      </p:sp>
      <p:sp>
        <p:nvSpPr>
          <p:cNvPr id="28" name="Shape 26"/>
          <p:cNvSpPr/>
          <p:nvPr/>
        </p:nvSpPr>
        <p:spPr>
          <a:xfrm>
            <a:off x="9378086" y="3310128"/>
            <a:ext cx="164592" cy="146304"/>
          </a:xfrm>
          <a:prstGeom prst="rightArrow">
            <a:avLst/>
          </a:prstGeom>
          <a:solidFill>
            <a:srgbClr val="64748B"/>
          </a:solidFill>
          <a:ln/>
        </p:spPr>
      </p:sp>
      <p:sp>
        <p:nvSpPr>
          <p:cNvPr id="29" name="Shape 27"/>
          <p:cNvSpPr/>
          <p:nvPr/>
        </p:nvSpPr>
        <p:spPr>
          <a:xfrm>
            <a:off x="9560966" y="2331720"/>
            <a:ext cx="2051914" cy="2103120"/>
          </a:xfrm>
          <a:prstGeom prst="roundRect">
            <a:avLst>
              <a:gd name="adj" fmla="val 4456"/>
            </a:avLst>
          </a:prstGeom>
          <a:solidFill>
            <a:srgbClr val="2563EB"/>
          </a:solidFill>
          <a:ln w="12700">
            <a:solidFill>
              <a:srgbClr val="334155"/>
            </a:solidFill>
            <a:prstDash val="solid"/>
          </a:ln>
          <a:effectLst>
            <a:outerShdw blurRad="101600" dist="38100" dir="5400000" algn="bl" rotWithShape="0">
              <a:srgbClr val="000000">
                <a:alpha val="35000"/>
              </a:srgbClr>
            </a:outerShdw>
          </a:effectLst>
        </p:spPr>
      </p:sp>
      <p:sp>
        <p:nvSpPr>
          <p:cNvPr id="30" name="Shape 28"/>
          <p:cNvSpPr/>
          <p:nvPr/>
        </p:nvSpPr>
        <p:spPr>
          <a:xfrm>
            <a:off x="10335463" y="2532888"/>
            <a:ext cx="502920" cy="502920"/>
          </a:xfrm>
          <a:prstGeom prst="ellipse">
            <a:avLst/>
          </a:prstGeom>
          <a:solidFill>
            <a:srgbClr val="38BDF8"/>
          </a:solidFill>
          <a:ln/>
        </p:spPr>
      </p:sp>
      <p:sp>
        <p:nvSpPr>
          <p:cNvPr id="31" name="Text 29"/>
          <p:cNvSpPr/>
          <p:nvPr/>
        </p:nvSpPr>
        <p:spPr>
          <a:xfrm>
            <a:off x="10335463" y="2532888"/>
            <a:ext cx="502920" cy="502920"/>
          </a:xfrm>
          <a:prstGeom prst="rect">
            <a:avLst/>
          </a:prstGeom>
          <a:noFill/>
          <a:ln/>
        </p:spPr>
        <p:txBody>
          <a:bodyPr wrap="square" lIns="0" tIns="0" rIns="0" bIns="0" rtlCol="0" anchor="ctr"/>
          <a:lstStyle/>
          <a:p>
            <a:pPr marL="0" indent="0" algn="ctr">
              <a:buNone/>
            </a:pPr>
            <a:r>
              <a:rPr lang="en-US" sz="1400" b="1" dirty="0">
                <a:solidFill>
                  <a:srgbClr val="0F172A"/>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9698126" y="3154680"/>
            <a:ext cx="1777594" cy="54864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Recommendation Engine</a:t>
            </a:r>
            <a:endParaRPr lang="en-US" sz="1200" dirty="0"/>
          </a:p>
        </p:txBody>
      </p:sp>
      <p:sp>
        <p:nvSpPr>
          <p:cNvPr id="33" name="Text 31"/>
          <p:cNvSpPr/>
          <p:nvPr/>
        </p:nvSpPr>
        <p:spPr>
          <a:xfrm>
            <a:off x="9698126" y="3703320"/>
            <a:ext cx="1777594" cy="685800"/>
          </a:xfrm>
          <a:prstGeom prst="rect">
            <a:avLst/>
          </a:prstGeom>
          <a:noFill/>
          <a:ln/>
        </p:spPr>
        <p:txBody>
          <a:bodyPr wrap="square" lIns="0" tIns="0" rIns="0" bIns="0" rtlCol="0" anchor="ctr"/>
          <a:lstStyle/>
          <a:p>
            <a:pPr marL="0" indent="0" algn="ctr">
              <a:lnSpc>
                <a:spcPct val="110000"/>
              </a:lnSpc>
              <a:buNone/>
            </a:pPr>
            <a:r>
              <a:rPr lang="en-US" sz="1000" dirty="0">
                <a:solidFill>
                  <a:srgbClr val="DBEAFE"/>
                </a:solidFill>
                <a:latin typeface="Calibri" pitchFamily="34" charset="0"/>
                <a:ea typeface="Calibri" pitchFamily="34" charset="-122"/>
                <a:cs typeface="Calibri" pitchFamily="34" charset="-120"/>
              </a:rPr>
              <a:t>Suggests OS-level tuning actions</a:t>
            </a:r>
            <a:endParaRPr lang="en-US" sz="1000" dirty="0"/>
          </a:p>
        </p:txBody>
      </p:sp>
      <p:sp>
        <p:nvSpPr>
          <p:cNvPr id="34" name="Text 32"/>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35" name="Text 33"/>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DATA FLOW</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System Workflow</a:t>
            </a:r>
            <a:endParaRPr lang="en-US" sz="3000" dirty="0"/>
          </a:p>
        </p:txBody>
      </p:sp>
      <p:sp>
        <p:nvSpPr>
          <p:cNvPr id="4" name="Shape 2"/>
          <p:cNvSpPr/>
          <p:nvPr/>
        </p:nvSpPr>
        <p:spPr>
          <a:xfrm>
            <a:off x="548640" y="2331720"/>
            <a:ext cx="1706880" cy="1783080"/>
          </a:xfrm>
          <a:prstGeom prst="roundRect">
            <a:avLst>
              <a:gd name="adj" fmla="val 535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5" name="Shape 3"/>
          <p:cNvSpPr/>
          <p:nvPr/>
        </p:nvSpPr>
        <p:spPr>
          <a:xfrm>
            <a:off x="1173480" y="2496312"/>
            <a:ext cx="457200" cy="457200"/>
          </a:xfrm>
          <a:prstGeom prst="ellipse">
            <a:avLst/>
          </a:prstGeom>
          <a:solidFill>
            <a:srgbClr val="FACC15"/>
          </a:solidFill>
          <a:ln/>
        </p:spPr>
      </p:sp>
      <p:sp>
        <p:nvSpPr>
          <p:cNvPr id="6" name="Text 4"/>
          <p:cNvSpPr/>
          <p:nvPr/>
        </p:nvSpPr>
        <p:spPr>
          <a:xfrm>
            <a:off x="1173480" y="2496312"/>
            <a:ext cx="4572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640080" y="3044952"/>
            <a:ext cx="1524000" cy="36576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OS Kernel</a:t>
            </a:r>
            <a:endParaRPr lang="en-US" sz="1100" dirty="0"/>
          </a:p>
        </p:txBody>
      </p:sp>
      <p:sp>
        <p:nvSpPr>
          <p:cNvPr id="8" name="Text 6"/>
          <p:cNvSpPr/>
          <p:nvPr/>
        </p:nvSpPr>
        <p:spPr>
          <a:xfrm>
            <a:off x="640080" y="3410712"/>
            <a:ext cx="1524000" cy="502920"/>
          </a:xfrm>
          <a:prstGeom prst="rect">
            <a:avLst/>
          </a:prstGeom>
          <a:noFill/>
          <a:ln/>
        </p:spPr>
        <p:txBody>
          <a:bodyPr wrap="square" lIns="0" tIns="0" rIns="0" bIns="0" rtlCol="0" anchor="ctr"/>
          <a:lstStyle/>
          <a:p>
            <a:pPr marL="0" indent="0" algn="ctr">
              <a:lnSpc>
                <a:spcPct val="110000"/>
              </a:lnSpc>
              <a:buNone/>
            </a:pPr>
            <a:r>
              <a:rPr lang="en-US" sz="880" dirty="0">
                <a:solidFill>
                  <a:srgbClr val="94A3B8"/>
                </a:solidFill>
                <a:latin typeface="Calibri" pitchFamily="34" charset="0"/>
                <a:ea typeface="Calibri" pitchFamily="34" charset="-122"/>
                <a:cs typeface="Calibri" pitchFamily="34" charset="-120"/>
              </a:rPr>
              <a:t>Generates live resource state</a:t>
            </a:r>
            <a:endParaRPr lang="en-US" sz="880" dirty="0"/>
          </a:p>
        </p:txBody>
      </p:sp>
      <p:sp>
        <p:nvSpPr>
          <p:cNvPr id="9" name="Shape 7"/>
          <p:cNvSpPr/>
          <p:nvPr/>
        </p:nvSpPr>
        <p:spPr>
          <a:xfrm>
            <a:off x="2260092" y="3150108"/>
            <a:ext cx="155448" cy="146304"/>
          </a:xfrm>
          <a:prstGeom prst="rightArrow">
            <a:avLst/>
          </a:prstGeom>
          <a:solidFill>
            <a:srgbClr val="64748B"/>
          </a:solidFill>
          <a:ln/>
        </p:spPr>
      </p:sp>
      <p:sp>
        <p:nvSpPr>
          <p:cNvPr id="10" name="Shape 8"/>
          <p:cNvSpPr/>
          <p:nvPr/>
        </p:nvSpPr>
        <p:spPr>
          <a:xfrm>
            <a:off x="2420112" y="2331720"/>
            <a:ext cx="1706880" cy="1783080"/>
          </a:xfrm>
          <a:prstGeom prst="roundRect">
            <a:avLst>
              <a:gd name="adj" fmla="val 535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11" name="Shape 9"/>
          <p:cNvSpPr/>
          <p:nvPr/>
        </p:nvSpPr>
        <p:spPr>
          <a:xfrm>
            <a:off x="3044952" y="2496312"/>
            <a:ext cx="457200" cy="457200"/>
          </a:xfrm>
          <a:prstGeom prst="ellipse">
            <a:avLst/>
          </a:prstGeom>
          <a:solidFill>
            <a:srgbClr val="2563EB"/>
          </a:solidFill>
          <a:ln/>
        </p:spPr>
      </p:sp>
      <p:sp>
        <p:nvSpPr>
          <p:cNvPr id="12" name="Text 10"/>
          <p:cNvSpPr/>
          <p:nvPr/>
        </p:nvSpPr>
        <p:spPr>
          <a:xfrm>
            <a:off x="3044952" y="2496312"/>
            <a:ext cx="457200" cy="45720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2511552" y="3044952"/>
            <a:ext cx="1524000" cy="36576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psutil Collector</a:t>
            </a:r>
            <a:endParaRPr lang="en-US" sz="1100" dirty="0"/>
          </a:p>
        </p:txBody>
      </p:sp>
      <p:sp>
        <p:nvSpPr>
          <p:cNvPr id="14" name="Text 12"/>
          <p:cNvSpPr/>
          <p:nvPr/>
        </p:nvSpPr>
        <p:spPr>
          <a:xfrm>
            <a:off x="2511552" y="3410712"/>
            <a:ext cx="1524000" cy="502920"/>
          </a:xfrm>
          <a:prstGeom prst="rect">
            <a:avLst/>
          </a:prstGeom>
          <a:noFill/>
          <a:ln/>
        </p:spPr>
        <p:txBody>
          <a:bodyPr wrap="square" lIns="0" tIns="0" rIns="0" bIns="0" rtlCol="0" anchor="ctr"/>
          <a:lstStyle/>
          <a:p>
            <a:pPr marL="0" indent="0" algn="ctr">
              <a:lnSpc>
                <a:spcPct val="110000"/>
              </a:lnSpc>
              <a:buNone/>
            </a:pPr>
            <a:r>
              <a:rPr lang="en-US" sz="880" dirty="0">
                <a:solidFill>
                  <a:srgbClr val="94A3B8"/>
                </a:solidFill>
                <a:latin typeface="Calibri" pitchFamily="34" charset="0"/>
                <a:ea typeface="Calibri" pitchFamily="34" charset="-122"/>
                <a:cs typeface="Calibri" pitchFamily="34" charset="-120"/>
              </a:rPr>
              <a:t>Reads CPU/Mem/Disk/Net/Process data</a:t>
            </a:r>
            <a:endParaRPr lang="en-US" sz="880" dirty="0"/>
          </a:p>
        </p:txBody>
      </p:sp>
      <p:sp>
        <p:nvSpPr>
          <p:cNvPr id="15" name="Shape 13"/>
          <p:cNvSpPr/>
          <p:nvPr/>
        </p:nvSpPr>
        <p:spPr>
          <a:xfrm>
            <a:off x="4131564" y="3150108"/>
            <a:ext cx="155448" cy="146304"/>
          </a:xfrm>
          <a:prstGeom prst="rightArrow">
            <a:avLst/>
          </a:prstGeom>
          <a:solidFill>
            <a:srgbClr val="64748B"/>
          </a:solidFill>
          <a:ln/>
        </p:spPr>
      </p:sp>
      <p:sp>
        <p:nvSpPr>
          <p:cNvPr id="16" name="Shape 14"/>
          <p:cNvSpPr/>
          <p:nvPr/>
        </p:nvSpPr>
        <p:spPr>
          <a:xfrm>
            <a:off x="4291584" y="2331720"/>
            <a:ext cx="1706880" cy="1783080"/>
          </a:xfrm>
          <a:prstGeom prst="roundRect">
            <a:avLst>
              <a:gd name="adj" fmla="val 535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17" name="Shape 15"/>
          <p:cNvSpPr/>
          <p:nvPr/>
        </p:nvSpPr>
        <p:spPr>
          <a:xfrm>
            <a:off x="4916424" y="2496312"/>
            <a:ext cx="457200" cy="457200"/>
          </a:xfrm>
          <a:prstGeom prst="ellipse">
            <a:avLst/>
          </a:prstGeom>
          <a:solidFill>
            <a:srgbClr val="2563EB"/>
          </a:solidFill>
          <a:ln/>
        </p:spPr>
      </p:sp>
      <p:sp>
        <p:nvSpPr>
          <p:cNvPr id="18" name="Text 16"/>
          <p:cNvSpPr/>
          <p:nvPr/>
        </p:nvSpPr>
        <p:spPr>
          <a:xfrm>
            <a:off x="4916424" y="2496312"/>
            <a:ext cx="457200" cy="45720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4383024" y="3044952"/>
            <a:ext cx="1524000" cy="36576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FastAPI Backend</a:t>
            </a:r>
            <a:endParaRPr lang="en-US" sz="1100" dirty="0"/>
          </a:p>
        </p:txBody>
      </p:sp>
      <p:sp>
        <p:nvSpPr>
          <p:cNvPr id="20" name="Text 18"/>
          <p:cNvSpPr/>
          <p:nvPr/>
        </p:nvSpPr>
        <p:spPr>
          <a:xfrm>
            <a:off x="4383024" y="3410712"/>
            <a:ext cx="1524000" cy="502920"/>
          </a:xfrm>
          <a:prstGeom prst="rect">
            <a:avLst/>
          </a:prstGeom>
          <a:noFill/>
          <a:ln/>
        </p:spPr>
        <p:txBody>
          <a:bodyPr wrap="square" lIns="0" tIns="0" rIns="0" bIns="0" rtlCol="0" anchor="ctr"/>
          <a:lstStyle/>
          <a:p>
            <a:pPr marL="0" indent="0" algn="ctr">
              <a:lnSpc>
                <a:spcPct val="110000"/>
              </a:lnSpc>
              <a:buNone/>
            </a:pPr>
            <a:r>
              <a:rPr lang="en-US" sz="880" dirty="0">
                <a:solidFill>
                  <a:srgbClr val="94A3B8"/>
                </a:solidFill>
                <a:latin typeface="Calibri" pitchFamily="34" charset="0"/>
                <a:ea typeface="Calibri" pitchFamily="34" charset="-122"/>
                <a:cs typeface="Calibri" pitchFamily="34" charset="-120"/>
              </a:rPr>
              <a:t>Processes &amp; routes requests</a:t>
            </a:r>
            <a:endParaRPr lang="en-US" sz="880" dirty="0"/>
          </a:p>
        </p:txBody>
      </p:sp>
      <p:sp>
        <p:nvSpPr>
          <p:cNvPr id="21" name="Shape 19"/>
          <p:cNvSpPr/>
          <p:nvPr/>
        </p:nvSpPr>
        <p:spPr>
          <a:xfrm>
            <a:off x="6003036" y="3150108"/>
            <a:ext cx="155448" cy="146304"/>
          </a:xfrm>
          <a:prstGeom prst="rightArrow">
            <a:avLst/>
          </a:prstGeom>
          <a:solidFill>
            <a:srgbClr val="64748B"/>
          </a:solidFill>
          <a:ln/>
        </p:spPr>
      </p:sp>
      <p:sp>
        <p:nvSpPr>
          <p:cNvPr id="22" name="Shape 20"/>
          <p:cNvSpPr/>
          <p:nvPr/>
        </p:nvSpPr>
        <p:spPr>
          <a:xfrm>
            <a:off x="6163056" y="2331720"/>
            <a:ext cx="1706880" cy="1783080"/>
          </a:xfrm>
          <a:prstGeom prst="roundRect">
            <a:avLst>
              <a:gd name="adj" fmla="val 535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23" name="Shape 21"/>
          <p:cNvSpPr/>
          <p:nvPr/>
        </p:nvSpPr>
        <p:spPr>
          <a:xfrm>
            <a:off x="6787896" y="2496312"/>
            <a:ext cx="457200" cy="457200"/>
          </a:xfrm>
          <a:prstGeom prst="ellipse">
            <a:avLst/>
          </a:prstGeom>
          <a:solidFill>
            <a:srgbClr val="2563EB"/>
          </a:solidFill>
          <a:ln/>
        </p:spPr>
      </p:sp>
      <p:sp>
        <p:nvSpPr>
          <p:cNvPr id="24" name="Text 22"/>
          <p:cNvSpPr/>
          <p:nvPr/>
        </p:nvSpPr>
        <p:spPr>
          <a:xfrm>
            <a:off x="6787896" y="2496312"/>
            <a:ext cx="457200" cy="45720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6254496" y="3044952"/>
            <a:ext cx="1524000" cy="36576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Database</a:t>
            </a:r>
            <a:endParaRPr lang="en-US" sz="1100" dirty="0"/>
          </a:p>
        </p:txBody>
      </p:sp>
      <p:sp>
        <p:nvSpPr>
          <p:cNvPr id="26" name="Text 24"/>
          <p:cNvSpPr/>
          <p:nvPr/>
        </p:nvSpPr>
        <p:spPr>
          <a:xfrm>
            <a:off x="6254496" y="3410712"/>
            <a:ext cx="1524000" cy="502920"/>
          </a:xfrm>
          <a:prstGeom prst="rect">
            <a:avLst/>
          </a:prstGeom>
          <a:noFill/>
          <a:ln/>
        </p:spPr>
        <p:txBody>
          <a:bodyPr wrap="square" lIns="0" tIns="0" rIns="0" bIns="0" rtlCol="0" anchor="ctr"/>
          <a:lstStyle/>
          <a:p>
            <a:pPr marL="0" indent="0" algn="ctr">
              <a:lnSpc>
                <a:spcPct val="110000"/>
              </a:lnSpc>
              <a:buNone/>
            </a:pPr>
            <a:r>
              <a:rPr lang="en-US" sz="880" dirty="0">
                <a:solidFill>
                  <a:srgbClr val="94A3B8"/>
                </a:solidFill>
                <a:latin typeface="Calibri" pitchFamily="34" charset="0"/>
                <a:ea typeface="Calibri" pitchFamily="34" charset="-122"/>
                <a:cs typeface="Calibri" pitchFamily="34" charset="-120"/>
              </a:rPr>
              <a:t>Stores historical readings</a:t>
            </a:r>
            <a:endParaRPr lang="en-US" sz="880" dirty="0"/>
          </a:p>
        </p:txBody>
      </p:sp>
      <p:sp>
        <p:nvSpPr>
          <p:cNvPr id="27" name="Shape 25"/>
          <p:cNvSpPr/>
          <p:nvPr/>
        </p:nvSpPr>
        <p:spPr>
          <a:xfrm>
            <a:off x="7874508" y="3150108"/>
            <a:ext cx="155448" cy="146304"/>
          </a:xfrm>
          <a:prstGeom prst="rightArrow">
            <a:avLst/>
          </a:prstGeom>
          <a:solidFill>
            <a:srgbClr val="64748B"/>
          </a:solidFill>
          <a:ln/>
        </p:spPr>
      </p:sp>
      <p:sp>
        <p:nvSpPr>
          <p:cNvPr id="28" name="Shape 26"/>
          <p:cNvSpPr/>
          <p:nvPr/>
        </p:nvSpPr>
        <p:spPr>
          <a:xfrm>
            <a:off x="8034528" y="2331720"/>
            <a:ext cx="1706880" cy="1783080"/>
          </a:xfrm>
          <a:prstGeom prst="roundRect">
            <a:avLst>
              <a:gd name="adj" fmla="val 535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29" name="Shape 27"/>
          <p:cNvSpPr/>
          <p:nvPr/>
        </p:nvSpPr>
        <p:spPr>
          <a:xfrm>
            <a:off x="8659368" y="2496312"/>
            <a:ext cx="457200" cy="457200"/>
          </a:xfrm>
          <a:prstGeom prst="ellipse">
            <a:avLst/>
          </a:prstGeom>
          <a:solidFill>
            <a:srgbClr val="38BDF8"/>
          </a:solidFill>
          <a:ln/>
        </p:spPr>
      </p:sp>
      <p:sp>
        <p:nvSpPr>
          <p:cNvPr id="30" name="Text 28"/>
          <p:cNvSpPr/>
          <p:nvPr/>
        </p:nvSpPr>
        <p:spPr>
          <a:xfrm>
            <a:off x="8659368" y="2496312"/>
            <a:ext cx="4572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8125968" y="3044952"/>
            <a:ext cx="1524000" cy="36576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AI Engine</a:t>
            </a:r>
            <a:endParaRPr lang="en-US" sz="1100" dirty="0"/>
          </a:p>
        </p:txBody>
      </p:sp>
      <p:sp>
        <p:nvSpPr>
          <p:cNvPr id="32" name="Text 30"/>
          <p:cNvSpPr/>
          <p:nvPr/>
        </p:nvSpPr>
        <p:spPr>
          <a:xfrm>
            <a:off x="8125968" y="3410712"/>
            <a:ext cx="1524000" cy="502920"/>
          </a:xfrm>
          <a:prstGeom prst="rect">
            <a:avLst/>
          </a:prstGeom>
          <a:noFill/>
          <a:ln/>
        </p:spPr>
        <p:txBody>
          <a:bodyPr wrap="square" lIns="0" tIns="0" rIns="0" bIns="0" rtlCol="0" anchor="ctr"/>
          <a:lstStyle/>
          <a:p>
            <a:pPr marL="0" indent="0" algn="ctr">
              <a:lnSpc>
                <a:spcPct val="110000"/>
              </a:lnSpc>
              <a:buNone/>
            </a:pPr>
            <a:r>
              <a:rPr lang="en-US" sz="880" dirty="0">
                <a:solidFill>
                  <a:srgbClr val="94A3B8"/>
                </a:solidFill>
                <a:latin typeface="Calibri" pitchFamily="34" charset="0"/>
                <a:ea typeface="Calibri" pitchFamily="34" charset="-122"/>
                <a:cs typeface="Calibri" pitchFamily="34" charset="-120"/>
              </a:rPr>
              <a:t>Predicts &amp; detects anomalies</a:t>
            </a:r>
            <a:endParaRPr lang="en-US" sz="880" dirty="0"/>
          </a:p>
        </p:txBody>
      </p:sp>
      <p:sp>
        <p:nvSpPr>
          <p:cNvPr id="33" name="Shape 31"/>
          <p:cNvSpPr/>
          <p:nvPr/>
        </p:nvSpPr>
        <p:spPr>
          <a:xfrm>
            <a:off x="9745980" y="3150108"/>
            <a:ext cx="155448" cy="146304"/>
          </a:xfrm>
          <a:prstGeom prst="rightArrow">
            <a:avLst/>
          </a:prstGeom>
          <a:solidFill>
            <a:srgbClr val="64748B"/>
          </a:solidFill>
          <a:ln/>
        </p:spPr>
      </p:sp>
      <p:sp>
        <p:nvSpPr>
          <p:cNvPr id="34" name="Shape 32"/>
          <p:cNvSpPr/>
          <p:nvPr/>
        </p:nvSpPr>
        <p:spPr>
          <a:xfrm>
            <a:off x="9906000" y="2331720"/>
            <a:ext cx="1706880" cy="1783080"/>
          </a:xfrm>
          <a:prstGeom prst="roundRect">
            <a:avLst>
              <a:gd name="adj" fmla="val 5357"/>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35" name="Shape 33"/>
          <p:cNvSpPr/>
          <p:nvPr/>
        </p:nvSpPr>
        <p:spPr>
          <a:xfrm>
            <a:off x="10530840" y="2496312"/>
            <a:ext cx="457200" cy="457200"/>
          </a:xfrm>
          <a:prstGeom prst="ellipse">
            <a:avLst/>
          </a:prstGeom>
          <a:solidFill>
            <a:srgbClr val="2563EB"/>
          </a:solidFill>
          <a:ln/>
        </p:spPr>
      </p:sp>
      <p:sp>
        <p:nvSpPr>
          <p:cNvPr id="36" name="Text 34"/>
          <p:cNvSpPr/>
          <p:nvPr/>
        </p:nvSpPr>
        <p:spPr>
          <a:xfrm>
            <a:off x="10530840" y="2496312"/>
            <a:ext cx="457200" cy="457200"/>
          </a:xfrm>
          <a:prstGeom prst="rect">
            <a:avLst/>
          </a:prstGeom>
          <a:noFill/>
          <a:ln/>
        </p:spPr>
        <p:txBody>
          <a:bodyPr wrap="square" lIns="0" tIns="0" rIns="0" bIns="0" rtlCol="0" anchor="ctr"/>
          <a:lstStyle/>
          <a:p>
            <a:pPr marL="0" indent="0" algn="ctr">
              <a:buNone/>
            </a:pPr>
            <a:r>
              <a:rPr lang="en-US" sz="1200" b="1" dirty="0">
                <a:solidFill>
                  <a:srgbClr val="F8FAFC"/>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9997440" y="3044952"/>
            <a:ext cx="1524000" cy="365760"/>
          </a:xfrm>
          <a:prstGeom prst="rect">
            <a:avLst/>
          </a:prstGeom>
          <a:noFill/>
          <a:ln/>
        </p:spPr>
        <p:txBody>
          <a:bodyPr wrap="square" lIns="0" tIns="0" rIns="0" bIns="0" rtlCol="0" anchor="ctr"/>
          <a:lstStyle/>
          <a:p>
            <a:pPr marL="0" indent="0" algn="ctr">
              <a:buNone/>
            </a:pPr>
            <a:r>
              <a:rPr lang="en-US" sz="1100" b="1" dirty="0">
                <a:solidFill>
                  <a:srgbClr val="F8FAFC"/>
                </a:solidFill>
                <a:latin typeface="Calibri" pitchFamily="34" charset="0"/>
                <a:ea typeface="Calibri" pitchFamily="34" charset="-122"/>
                <a:cs typeface="Calibri" pitchFamily="34" charset="-120"/>
              </a:rPr>
              <a:t>Dashboard</a:t>
            </a:r>
            <a:endParaRPr lang="en-US" sz="1100" dirty="0"/>
          </a:p>
        </p:txBody>
      </p:sp>
      <p:sp>
        <p:nvSpPr>
          <p:cNvPr id="38" name="Text 36"/>
          <p:cNvSpPr/>
          <p:nvPr/>
        </p:nvSpPr>
        <p:spPr>
          <a:xfrm>
            <a:off x="9997440" y="3410712"/>
            <a:ext cx="1524000" cy="502920"/>
          </a:xfrm>
          <a:prstGeom prst="rect">
            <a:avLst/>
          </a:prstGeom>
          <a:noFill/>
          <a:ln/>
        </p:spPr>
        <p:txBody>
          <a:bodyPr wrap="square" lIns="0" tIns="0" rIns="0" bIns="0" rtlCol="0" anchor="ctr"/>
          <a:lstStyle/>
          <a:p>
            <a:pPr marL="0" indent="0" algn="ctr">
              <a:lnSpc>
                <a:spcPct val="110000"/>
              </a:lnSpc>
              <a:buNone/>
            </a:pPr>
            <a:r>
              <a:rPr lang="en-US" sz="880" dirty="0">
                <a:solidFill>
                  <a:srgbClr val="94A3B8"/>
                </a:solidFill>
                <a:latin typeface="Calibri" pitchFamily="34" charset="0"/>
                <a:ea typeface="Calibri" pitchFamily="34" charset="-122"/>
                <a:cs typeface="Calibri" pitchFamily="34" charset="-120"/>
              </a:rPr>
              <a:t>Displays alerts &amp; recommendations</a:t>
            </a:r>
            <a:endParaRPr lang="en-US" sz="880" dirty="0"/>
          </a:p>
        </p:txBody>
      </p:sp>
      <p:sp>
        <p:nvSpPr>
          <p:cNvPr id="39" name="Text 37"/>
          <p:cNvSpPr/>
          <p:nvPr/>
        </p:nvSpPr>
        <p:spPr>
          <a:xfrm>
            <a:off x="548640" y="4343400"/>
            <a:ext cx="11064240" cy="411480"/>
          </a:xfrm>
          <a:prstGeom prst="rect">
            <a:avLst/>
          </a:prstGeom>
          <a:noFill/>
          <a:ln/>
        </p:spPr>
        <p:txBody>
          <a:bodyPr wrap="square" rtlCol="0" anchor="ctr"/>
          <a:lstStyle/>
          <a:p>
            <a:pPr marL="0" indent="0" algn="ctr">
              <a:buNone/>
            </a:pPr>
            <a:r>
              <a:rPr lang="en-US" sz="1150" i="1" dirty="0">
                <a:solidFill>
                  <a:srgbClr val="64748B"/>
                </a:solidFill>
                <a:latin typeface="Calibri" pitchFamily="34" charset="0"/>
                <a:ea typeface="Calibri" pitchFamily="34" charset="-122"/>
                <a:cs typeface="Calibri" pitchFamily="34" charset="-120"/>
              </a:rPr>
              <a:t>Alerts and recommendations feed back to the OS-facing dashboard for administrator action.</a:t>
            </a:r>
            <a:endParaRPr lang="en-US" sz="1150" dirty="0"/>
          </a:p>
        </p:txBody>
      </p:sp>
      <p:sp>
        <p:nvSpPr>
          <p:cNvPr id="40" name="Text 38"/>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41" name="Text 39"/>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Technology Stack</a:t>
            </a:r>
            <a:endParaRPr lang="en-US" sz="3000" dirty="0"/>
          </a:p>
        </p:txBody>
      </p:sp>
      <p:sp>
        <p:nvSpPr>
          <p:cNvPr id="4" name="Text 2"/>
          <p:cNvSpPr/>
          <p:nvPr/>
        </p:nvSpPr>
        <p:spPr>
          <a:xfrm>
            <a:off x="548640" y="1691640"/>
            <a:ext cx="2651760" cy="932688"/>
          </a:xfrm>
          <a:prstGeom prst="rect">
            <a:avLst/>
          </a:prstGeom>
          <a:noFill/>
          <a:ln/>
        </p:spPr>
        <p:txBody>
          <a:bodyPr wrap="square" lIns="0" tIns="0" rIns="0" bIns="0"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Backend &amp; OS Interface</a:t>
            </a:r>
            <a:endParaRPr lang="en-US" sz="1250" dirty="0"/>
          </a:p>
        </p:txBody>
      </p:sp>
      <p:sp>
        <p:nvSpPr>
          <p:cNvPr id="5" name="Shape 3"/>
          <p:cNvSpPr/>
          <p:nvPr/>
        </p:nvSpPr>
        <p:spPr>
          <a:xfrm>
            <a:off x="3337560" y="1764792"/>
            <a:ext cx="2331720" cy="786384"/>
          </a:xfrm>
          <a:prstGeom prst="roundRect">
            <a:avLst>
              <a:gd name="adj" fmla="val 11628"/>
            </a:avLst>
          </a:prstGeom>
          <a:solidFill>
            <a:srgbClr val="1E293B"/>
          </a:solidFill>
          <a:ln w="12700">
            <a:solidFill>
              <a:srgbClr val="334155"/>
            </a:solidFill>
            <a:prstDash val="solid"/>
          </a:ln>
        </p:spPr>
      </p:sp>
      <p:sp>
        <p:nvSpPr>
          <p:cNvPr id="6" name="Shape 4"/>
          <p:cNvSpPr/>
          <p:nvPr/>
        </p:nvSpPr>
        <p:spPr>
          <a:xfrm>
            <a:off x="3474720" y="1929384"/>
            <a:ext cx="457200" cy="457200"/>
          </a:xfrm>
          <a:prstGeom prst="ellipse">
            <a:avLst/>
          </a:prstGeom>
          <a:solidFill>
            <a:srgbClr val="2563EB"/>
          </a:solidFill>
          <a:ln/>
        </p:spPr>
      </p:sp>
      <p:sp>
        <p:nvSpPr>
          <p:cNvPr id="7" name="Text 5"/>
          <p:cNvSpPr/>
          <p:nvPr/>
        </p:nvSpPr>
        <p:spPr>
          <a:xfrm>
            <a:off x="3474720" y="1929384"/>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PY</a:t>
            </a:r>
            <a:endParaRPr lang="en-US" sz="1050" dirty="0"/>
          </a:p>
        </p:txBody>
      </p:sp>
      <p:sp>
        <p:nvSpPr>
          <p:cNvPr id="8" name="Text 6"/>
          <p:cNvSpPr/>
          <p:nvPr/>
        </p:nvSpPr>
        <p:spPr>
          <a:xfrm>
            <a:off x="4023360" y="1764792"/>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Python</a:t>
            </a:r>
            <a:endParaRPr lang="en-US" sz="1200" dirty="0"/>
          </a:p>
        </p:txBody>
      </p:sp>
      <p:sp>
        <p:nvSpPr>
          <p:cNvPr id="9" name="Shape 7"/>
          <p:cNvSpPr/>
          <p:nvPr/>
        </p:nvSpPr>
        <p:spPr>
          <a:xfrm>
            <a:off x="5806440" y="1764792"/>
            <a:ext cx="2331720" cy="786384"/>
          </a:xfrm>
          <a:prstGeom prst="roundRect">
            <a:avLst>
              <a:gd name="adj" fmla="val 11628"/>
            </a:avLst>
          </a:prstGeom>
          <a:solidFill>
            <a:srgbClr val="1E293B"/>
          </a:solidFill>
          <a:ln w="12700">
            <a:solidFill>
              <a:srgbClr val="334155"/>
            </a:solidFill>
            <a:prstDash val="solid"/>
          </a:ln>
        </p:spPr>
      </p:sp>
      <p:sp>
        <p:nvSpPr>
          <p:cNvPr id="10" name="Shape 8"/>
          <p:cNvSpPr/>
          <p:nvPr/>
        </p:nvSpPr>
        <p:spPr>
          <a:xfrm>
            <a:off x="5943600" y="1929384"/>
            <a:ext cx="457200" cy="457200"/>
          </a:xfrm>
          <a:prstGeom prst="ellipse">
            <a:avLst/>
          </a:prstGeom>
          <a:solidFill>
            <a:srgbClr val="2563EB"/>
          </a:solidFill>
          <a:ln/>
        </p:spPr>
      </p:sp>
      <p:sp>
        <p:nvSpPr>
          <p:cNvPr id="11" name="Text 9"/>
          <p:cNvSpPr/>
          <p:nvPr/>
        </p:nvSpPr>
        <p:spPr>
          <a:xfrm>
            <a:off x="5943600" y="1929384"/>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FA</a:t>
            </a:r>
            <a:endParaRPr lang="en-US" sz="1050" dirty="0"/>
          </a:p>
        </p:txBody>
      </p:sp>
      <p:sp>
        <p:nvSpPr>
          <p:cNvPr id="12" name="Text 10"/>
          <p:cNvSpPr/>
          <p:nvPr/>
        </p:nvSpPr>
        <p:spPr>
          <a:xfrm>
            <a:off x="6492240" y="1764792"/>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FastAPI</a:t>
            </a:r>
            <a:endParaRPr lang="en-US" sz="1200" dirty="0"/>
          </a:p>
        </p:txBody>
      </p:sp>
      <p:sp>
        <p:nvSpPr>
          <p:cNvPr id="13" name="Shape 11"/>
          <p:cNvSpPr/>
          <p:nvPr/>
        </p:nvSpPr>
        <p:spPr>
          <a:xfrm>
            <a:off x="8275320" y="1764792"/>
            <a:ext cx="2331720" cy="786384"/>
          </a:xfrm>
          <a:prstGeom prst="roundRect">
            <a:avLst>
              <a:gd name="adj" fmla="val 11628"/>
            </a:avLst>
          </a:prstGeom>
          <a:solidFill>
            <a:srgbClr val="1E293B"/>
          </a:solidFill>
          <a:ln w="12700">
            <a:solidFill>
              <a:srgbClr val="334155"/>
            </a:solidFill>
            <a:prstDash val="solid"/>
          </a:ln>
        </p:spPr>
      </p:sp>
      <p:sp>
        <p:nvSpPr>
          <p:cNvPr id="14" name="Shape 12"/>
          <p:cNvSpPr/>
          <p:nvPr/>
        </p:nvSpPr>
        <p:spPr>
          <a:xfrm>
            <a:off x="8412480" y="1929384"/>
            <a:ext cx="457200" cy="457200"/>
          </a:xfrm>
          <a:prstGeom prst="ellipse">
            <a:avLst/>
          </a:prstGeom>
          <a:solidFill>
            <a:srgbClr val="2563EB"/>
          </a:solidFill>
          <a:ln/>
        </p:spPr>
      </p:sp>
      <p:sp>
        <p:nvSpPr>
          <p:cNvPr id="15" name="Text 13"/>
          <p:cNvSpPr/>
          <p:nvPr/>
        </p:nvSpPr>
        <p:spPr>
          <a:xfrm>
            <a:off x="8412480" y="1929384"/>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PS</a:t>
            </a:r>
            <a:endParaRPr lang="en-US" sz="1050" dirty="0"/>
          </a:p>
        </p:txBody>
      </p:sp>
      <p:sp>
        <p:nvSpPr>
          <p:cNvPr id="16" name="Text 14"/>
          <p:cNvSpPr/>
          <p:nvPr/>
        </p:nvSpPr>
        <p:spPr>
          <a:xfrm>
            <a:off x="8961120" y="1764792"/>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psutil</a:t>
            </a:r>
            <a:endParaRPr lang="en-US" sz="1200" dirty="0"/>
          </a:p>
        </p:txBody>
      </p:sp>
      <p:sp>
        <p:nvSpPr>
          <p:cNvPr id="17" name="Text 15"/>
          <p:cNvSpPr/>
          <p:nvPr/>
        </p:nvSpPr>
        <p:spPr>
          <a:xfrm>
            <a:off x="548640" y="2624328"/>
            <a:ext cx="2651760" cy="932688"/>
          </a:xfrm>
          <a:prstGeom prst="rect">
            <a:avLst/>
          </a:prstGeom>
          <a:noFill/>
          <a:ln/>
        </p:spPr>
        <p:txBody>
          <a:bodyPr wrap="square" lIns="0" tIns="0" rIns="0" bIns="0"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AI / Analytics</a:t>
            </a:r>
            <a:endParaRPr lang="en-US" sz="1250" dirty="0"/>
          </a:p>
        </p:txBody>
      </p:sp>
      <p:sp>
        <p:nvSpPr>
          <p:cNvPr id="18" name="Shape 16"/>
          <p:cNvSpPr/>
          <p:nvPr/>
        </p:nvSpPr>
        <p:spPr>
          <a:xfrm>
            <a:off x="3337560" y="2697480"/>
            <a:ext cx="2331720" cy="786384"/>
          </a:xfrm>
          <a:prstGeom prst="roundRect">
            <a:avLst>
              <a:gd name="adj" fmla="val 11628"/>
            </a:avLst>
          </a:prstGeom>
          <a:solidFill>
            <a:srgbClr val="1E293B"/>
          </a:solidFill>
          <a:ln w="12700">
            <a:solidFill>
              <a:srgbClr val="334155"/>
            </a:solidFill>
            <a:prstDash val="solid"/>
          </a:ln>
        </p:spPr>
      </p:sp>
      <p:sp>
        <p:nvSpPr>
          <p:cNvPr id="19" name="Shape 17"/>
          <p:cNvSpPr/>
          <p:nvPr/>
        </p:nvSpPr>
        <p:spPr>
          <a:xfrm>
            <a:off x="3474720" y="2862072"/>
            <a:ext cx="457200" cy="457200"/>
          </a:xfrm>
          <a:prstGeom prst="ellipse">
            <a:avLst/>
          </a:prstGeom>
          <a:solidFill>
            <a:srgbClr val="2563EB"/>
          </a:solidFill>
          <a:ln/>
        </p:spPr>
      </p:sp>
      <p:sp>
        <p:nvSpPr>
          <p:cNvPr id="20" name="Text 18"/>
          <p:cNvSpPr/>
          <p:nvPr/>
        </p:nvSpPr>
        <p:spPr>
          <a:xfrm>
            <a:off x="3474720" y="2862072"/>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SK</a:t>
            </a:r>
            <a:endParaRPr lang="en-US" sz="1050" dirty="0"/>
          </a:p>
        </p:txBody>
      </p:sp>
      <p:sp>
        <p:nvSpPr>
          <p:cNvPr id="21" name="Text 19"/>
          <p:cNvSpPr/>
          <p:nvPr/>
        </p:nvSpPr>
        <p:spPr>
          <a:xfrm>
            <a:off x="4023360" y="2697480"/>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Scikit-learn</a:t>
            </a:r>
            <a:endParaRPr lang="en-US" sz="1200" dirty="0"/>
          </a:p>
        </p:txBody>
      </p:sp>
      <p:sp>
        <p:nvSpPr>
          <p:cNvPr id="22" name="Text 20"/>
          <p:cNvSpPr/>
          <p:nvPr/>
        </p:nvSpPr>
        <p:spPr>
          <a:xfrm>
            <a:off x="548640" y="3557016"/>
            <a:ext cx="2651760" cy="932688"/>
          </a:xfrm>
          <a:prstGeom prst="rect">
            <a:avLst/>
          </a:prstGeom>
          <a:noFill/>
          <a:ln/>
        </p:spPr>
        <p:txBody>
          <a:bodyPr wrap="square" lIns="0" tIns="0" rIns="0" bIns="0"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Data Storage</a:t>
            </a:r>
            <a:endParaRPr lang="en-US" sz="1250" dirty="0"/>
          </a:p>
        </p:txBody>
      </p:sp>
      <p:sp>
        <p:nvSpPr>
          <p:cNvPr id="23" name="Shape 21"/>
          <p:cNvSpPr/>
          <p:nvPr/>
        </p:nvSpPr>
        <p:spPr>
          <a:xfrm>
            <a:off x="3337560" y="3630168"/>
            <a:ext cx="2331720" cy="786384"/>
          </a:xfrm>
          <a:prstGeom prst="roundRect">
            <a:avLst>
              <a:gd name="adj" fmla="val 11628"/>
            </a:avLst>
          </a:prstGeom>
          <a:solidFill>
            <a:srgbClr val="1E293B"/>
          </a:solidFill>
          <a:ln w="12700">
            <a:solidFill>
              <a:srgbClr val="334155"/>
            </a:solidFill>
            <a:prstDash val="solid"/>
          </a:ln>
        </p:spPr>
      </p:sp>
      <p:sp>
        <p:nvSpPr>
          <p:cNvPr id="24" name="Shape 22"/>
          <p:cNvSpPr/>
          <p:nvPr/>
        </p:nvSpPr>
        <p:spPr>
          <a:xfrm>
            <a:off x="3474720" y="3794760"/>
            <a:ext cx="457200" cy="457200"/>
          </a:xfrm>
          <a:prstGeom prst="ellipse">
            <a:avLst/>
          </a:prstGeom>
          <a:solidFill>
            <a:srgbClr val="2563EB"/>
          </a:solidFill>
          <a:ln/>
        </p:spPr>
      </p:sp>
      <p:sp>
        <p:nvSpPr>
          <p:cNvPr id="25" name="Text 23"/>
          <p:cNvSpPr/>
          <p:nvPr/>
        </p:nvSpPr>
        <p:spPr>
          <a:xfrm>
            <a:off x="3474720" y="3794760"/>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SB</a:t>
            </a:r>
            <a:endParaRPr lang="en-US" sz="1050" dirty="0"/>
          </a:p>
        </p:txBody>
      </p:sp>
      <p:sp>
        <p:nvSpPr>
          <p:cNvPr id="26" name="Text 24"/>
          <p:cNvSpPr/>
          <p:nvPr/>
        </p:nvSpPr>
        <p:spPr>
          <a:xfrm>
            <a:off x="4023360" y="3630168"/>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Supabase</a:t>
            </a:r>
            <a:endParaRPr lang="en-US" sz="1200" dirty="0"/>
          </a:p>
        </p:txBody>
      </p:sp>
      <p:sp>
        <p:nvSpPr>
          <p:cNvPr id="27" name="Shape 25"/>
          <p:cNvSpPr/>
          <p:nvPr/>
        </p:nvSpPr>
        <p:spPr>
          <a:xfrm>
            <a:off x="5806440" y="3630168"/>
            <a:ext cx="2331720" cy="786384"/>
          </a:xfrm>
          <a:prstGeom prst="roundRect">
            <a:avLst>
              <a:gd name="adj" fmla="val 11628"/>
            </a:avLst>
          </a:prstGeom>
          <a:solidFill>
            <a:srgbClr val="1E293B"/>
          </a:solidFill>
          <a:ln w="12700">
            <a:solidFill>
              <a:srgbClr val="334155"/>
            </a:solidFill>
            <a:prstDash val="solid"/>
          </a:ln>
        </p:spPr>
      </p:sp>
      <p:sp>
        <p:nvSpPr>
          <p:cNvPr id="28" name="Shape 26"/>
          <p:cNvSpPr/>
          <p:nvPr/>
        </p:nvSpPr>
        <p:spPr>
          <a:xfrm>
            <a:off x="5943600" y="3794760"/>
            <a:ext cx="457200" cy="457200"/>
          </a:xfrm>
          <a:prstGeom prst="ellipse">
            <a:avLst/>
          </a:prstGeom>
          <a:solidFill>
            <a:srgbClr val="2563EB"/>
          </a:solidFill>
          <a:ln/>
        </p:spPr>
      </p:sp>
      <p:sp>
        <p:nvSpPr>
          <p:cNvPr id="29" name="Text 27"/>
          <p:cNvSpPr/>
          <p:nvPr/>
        </p:nvSpPr>
        <p:spPr>
          <a:xfrm>
            <a:off x="5943600" y="3794760"/>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DB</a:t>
            </a:r>
            <a:endParaRPr lang="en-US" sz="1050" dirty="0"/>
          </a:p>
        </p:txBody>
      </p:sp>
      <p:sp>
        <p:nvSpPr>
          <p:cNvPr id="30" name="Text 28"/>
          <p:cNvSpPr/>
          <p:nvPr/>
        </p:nvSpPr>
        <p:spPr>
          <a:xfrm>
            <a:off x="6492240" y="3630168"/>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SQLite</a:t>
            </a:r>
            <a:endParaRPr lang="en-US" sz="1200" dirty="0"/>
          </a:p>
        </p:txBody>
      </p:sp>
      <p:sp>
        <p:nvSpPr>
          <p:cNvPr id="31" name="Text 29"/>
          <p:cNvSpPr/>
          <p:nvPr/>
        </p:nvSpPr>
        <p:spPr>
          <a:xfrm>
            <a:off x="548640" y="4489704"/>
            <a:ext cx="2651760" cy="932688"/>
          </a:xfrm>
          <a:prstGeom prst="rect">
            <a:avLst/>
          </a:prstGeom>
          <a:noFill/>
          <a:ln/>
        </p:spPr>
        <p:txBody>
          <a:bodyPr wrap="square" lIns="0" tIns="0" rIns="0" bIns="0"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Frontend</a:t>
            </a:r>
            <a:endParaRPr lang="en-US" sz="1250" dirty="0"/>
          </a:p>
        </p:txBody>
      </p:sp>
      <p:sp>
        <p:nvSpPr>
          <p:cNvPr id="32" name="Shape 30"/>
          <p:cNvSpPr/>
          <p:nvPr/>
        </p:nvSpPr>
        <p:spPr>
          <a:xfrm>
            <a:off x="3337560" y="4562856"/>
            <a:ext cx="2331720" cy="786384"/>
          </a:xfrm>
          <a:prstGeom prst="roundRect">
            <a:avLst>
              <a:gd name="adj" fmla="val 11628"/>
            </a:avLst>
          </a:prstGeom>
          <a:solidFill>
            <a:srgbClr val="1E293B"/>
          </a:solidFill>
          <a:ln w="12700">
            <a:solidFill>
              <a:srgbClr val="334155"/>
            </a:solidFill>
            <a:prstDash val="solid"/>
          </a:ln>
        </p:spPr>
      </p:sp>
      <p:sp>
        <p:nvSpPr>
          <p:cNvPr id="33" name="Shape 31"/>
          <p:cNvSpPr/>
          <p:nvPr/>
        </p:nvSpPr>
        <p:spPr>
          <a:xfrm>
            <a:off x="3474720" y="4727448"/>
            <a:ext cx="457200" cy="457200"/>
          </a:xfrm>
          <a:prstGeom prst="ellipse">
            <a:avLst/>
          </a:prstGeom>
          <a:solidFill>
            <a:srgbClr val="2563EB"/>
          </a:solidFill>
          <a:ln/>
        </p:spPr>
      </p:sp>
      <p:sp>
        <p:nvSpPr>
          <p:cNvPr id="34" name="Text 32"/>
          <p:cNvSpPr/>
          <p:nvPr/>
        </p:nvSpPr>
        <p:spPr>
          <a:xfrm>
            <a:off x="3474720" y="4727448"/>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HT</a:t>
            </a:r>
            <a:endParaRPr lang="en-US" sz="1050" dirty="0"/>
          </a:p>
        </p:txBody>
      </p:sp>
      <p:sp>
        <p:nvSpPr>
          <p:cNvPr id="35" name="Text 33"/>
          <p:cNvSpPr/>
          <p:nvPr/>
        </p:nvSpPr>
        <p:spPr>
          <a:xfrm>
            <a:off x="4023360" y="4562856"/>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HTML/CSS</a:t>
            </a:r>
            <a:endParaRPr lang="en-US" sz="1200" dirty="0"/>
          </a:p>
        </p:txBody>
      </p:sp>
      <p:sp>
        <p:nvSpPr>
          <p:cNvPr id="36" name="Shape 34"/>
          <p:cNvSpPr/>
          <p:nvPr/>
        </p:nvSpPr>
        <p:spPr>
          <a:xfrm>
            <a:off x="5806440" y="4562856"/>
            <a:ext cx="2331720" cy="786384"/>
          </a:xfrm>
          <a:prstGeom prst="roundRect">
            <a:avLst>
              <a:gd name="adj" fmla="val 11628"/>
            </a:avLst>
          </a:prstGeom>
          <a:solidFill>
            <a:srgbClr val="1E293B"/>
          </a:solidFill>
          <a:ln w="12700">
            <a:solidFill>
              <a:srgbClr val="334155"/>
            </a:solidFill>
            <a:prstDash val="solid"/>
          </a:ln>
        </p:spPr>
      </p:sp>
      <p:sp>
        <p:nvSpPr>
          <p:cNvPr id="37" name="Shape 35"/>
          <p:cNvSpPr/>
          <p:nvPr/>
        </p:nvSpPr>
        <p:spPr>
          <a:xfrm>
            <a:off x="5943600" y="4727448"/>
            <a:ext cx="457200" cy="457200"/>
          </a:xfrm>
          <a:prstGeom prst="ellipse">
            <a:avLst/>
          </a:prstGeom>
          <a:solidFill>
            <a:srgbClr val="2563EB"/>
          </a:solidFill>
          <a:ln/>
        </p:spPr>
      </p:sp>
      <p:sp>
        <p:nvSpPr>
          <p:cNvPr id="38" name="Text 36"/>
          <p:cNvSpPr/>
          <p:nvPr/>
        </p:nvSpPr>
        <p:spPr>
          <a:xfrm>
            <a:off x="5943600" y="4727448"/>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JS</a:t>
            </a:r>
            <a:endParaRPr lang="en-US" sz="1050" dirty="0"/>
          </a:p>
        </p:txBody>
      </p:sp>
      <p:sp>
        <p:nvSpPr>
          <p:cNvPr id="39" name="Text 37"/>
          <p:cNvSpPr/>
          <p:nvPr/>
        </p:nvSpPr>
        <p:spPr>
          <a:xfrm>
            <a:off x="6492240" y="4562856"/>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JavaScript</a:t>
            </a:r>
            <a:endParaRPr lang="en-US" sz="1200" dirty="0"/>
          </a:p>
        </p:txBody>
      </p:sp>
      <p:sp>
        <p:nvSpPr>
          <p:cNvPr id="40" name="Shape 38"/>
          <p:cNvSpPr/>
          <p:nvPr/>
        </p:nvSpPr>
        <p:spPr>
          <a:xfrm>
            <a:off x="8275320" y="4562856"/>
            <a:ext cx="2331720" cy="786384"/>
          </a:xfrm>
          <a:prstGeom prst="roundRect">
            <a:avLst>
              <a:gd name="adj" fmla="val 11628"/>
            </a:avLst>
          </a:prstGeom>
          <a:solidFill>
            <a:srgbClr val="1E293B"/>
          </a:solidFill>
          <a:ln w="12700">
            <a:solidFill>
              <a:srgbClr val="334155"/>
            </a:solidFill>
            <a:prstDash val="solid"/>
          </a:ln>
        </p:spPr>
      </p:sp>
      <p:sp>
        <p:nvSpPr>
          <p:cNvPr id="41" name="Shape 39"/>
          <p:cNvSpPr/>
          <p:nvPr/>
        </p:nvSpPr>
        <p:spPr>
          <a:xfrm>
            <a:off x="8412480" y="4727448"/>
            <a:ext cx="457200" cy="457200"/>
          </a:xfrm>
          <a:prstGeom prst="ellipse">
            <a:avLst/>
          </a:prstGeom>
          <a:solidFill>
            <a:srgbClr val="2563EB"/>
          </a:solidFill>
          <a:ln/>
        </p:spPr>
      </p:sp>
      <p:sp>
        <p:nvSpPr>
          <p:cNvPr id="42" name="Text 40"/>
          <p:cNvSpPr/>
          <p:nvPr/>
        </p:nvSpPr>
        <p:spPr>
          <a:xfrm>
            <a:off x="8412480" y="4727448"/>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CH</a:t>
            </a:r>
            <a:endParaRPr lang="en-US" sz="1050" dirty="0"/>
          </a:p>
        </p:txBody>
      </p:sp>
      <p:sp>
        <p:nvSpPr>
          <p:cNvPr id="43" name="Text 41"/>
          <p:cNvSpPr/>
          <p:nvPr/>
        </p:nvSpPr>
        <p:spPr>
          <a:xfrm>
            <a:off x="8961120" y="4562856"/>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Chart.js</a:t>
            </a:r>
            <a:endParaRPr lang="en-US" sz="1200" dirty="0"/>
          </a:p>
        </p:txBody>
      </p:sp>
      <p:sp>
        <p:nvSpPr>
          <p:cNvPr id="44" name="Text 42"/>
          <p:cNvSpPr/>
          <p:nvPr/>
        </p:nvSpPr>
        <p:spPr>
          <a:xfrm>
            <a:off x="548640" y="5422392"/>
            <a:ext cx="2651760" cy="932688"/>
          </a:xfrm>
          <a:prstGeom prst="rect">
            <a:avLst/>
          </a:prstGeom>
          <a:noFill/>
          <a:ln/>
        </p:spPr>
        <p:txBody>
          <a:bodyPr wrap="square" lIns="0" tIns="0" rIns="0" bIns="0" rtlCol="0" anchor="ctr"/>
          <a:lstStyle/>
          <a:p>
            <a:pPr marL="0" indent="0">
              <a:buNone/>
            </a:pPr>
            <a:r>
              <a:rPr lang="en-US" sz="1250" b="1" dirty="0">
                <a:solidFill>
                  <a:srgbClr val="38BDF8"/>
                </a:solidFill>
                <a:latin typeface="Calibri" pitchFamily="34" charset="0"/>
                <a:ea typeface="Calibri" pitchFamily="34" charset="-122"/>
                <a:cs typeface="Calibri" pitchFamily="34" charset="-120"/>
              </a:rPr>
              <a:t>Version Control</a:t>
            </a:r>
            <a:endParaRPr lang="en-US" sz="1250" dirty="0"/>
          </a:p>
        </p:txBody>
      </p:sp>
      <p:sp>
        <p:nvSpPr>
          <p:cNvPr id="45" name="Shape 43"/>
          <p:cNvSpPr/>
          <p:nvPr/>
        </p:nvSpPr>
        <p:spPr>
          <a:xfrm>
            <a:off x="3337560" y="5495544"/>
            <a:ext cx="2331720" cy="786384"/>
          </a:xfrm>
          <a:prstGeom prst="roundRect">
            <a:avLst>
              <a:gd name="adj" fmla="val 11628"/>
            </a:avLst>
          </a:prstGeom>
          <a:solidFill>
            <a:srgbClr val="1E293B"/>
          </a:solidFill>
          <a:ln w="12700">
            <a:solidFill>
              <a:srgbClr val="334155"/>
            </a:solidFill>
            <a:prstDash val="solid"/>
          </a:ln>
        </p:spPr>
      </p:sp>
      <p:sp>
        <p:nvSpPr>
          <p:cNvPr id="46" name="Shape 44"/>
          <p:cNvSpPr/>
          <p:nvPr/>
        </p:nvSpPr>
        <p:spPr>
          <a:xfrm>
            <a:off x="3474720" y="5660136"/>
            <a:ext cx="457200" cy="457200"/>
          </a:xfrm>
          <a:prstGeom prst="ellipse">
            <a:avLst/>
          </a:prstGeom>
          <a:solidFill>
            <a:srgbClr val="2563EB"/>
          </a:solidFill>
          <a:ln/>
        </p:spPr>
      </p:sp>
      <p:sp>
        <p:nvSpPr>
          <p:cNvPr id="47" name="Text 45"/>
          <p:cNvSpPr/>
          <p:nvPr/>
        </p:nvSpPr>
        <p:spPr>
          <a:xfrm>
            <a:off x="3474720" y="5660136"/>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GT</a:t>
            </a:r>
            <a:endParaRPr lang="en-US" sz="1050" dirty="0"/>
          </a:p>
        </p:txBody>
      </p:sp>
      <p:sp>
        <p:nvSpPr>
          <p:cNvPr id="48" name="Text 46"/>
          <p:cNvSpPr/>
          <p:nvPr/>
        </p:nvSpPr>
        <p:spPr>
          <a:xfrm>
            <a:off x="4023360" y="5495544"/>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Git</a:t>
            </a:r>
            <a:endParaRPr lang="en-US" sz="1200" dirty="0"/>
          </a:p>
        </p:txBody>
      </p:sp>
      <p:sp>
        <p:nvSpPr>
          <p:cNvPr id="49" name="Shape 47"/>
          <p:cNvSpPr/>
          <p:nvPr/>
        </p:nvSpPr>
        <p:spPr>
          <a:xfrm>
            <a:off x="5806440" y="5495544"/>
            <a:ext cx="2331720" cy="786384"/>
          </a:xfrm>
          <a:prstGeom prst="roundRect">
            <a:avLst>
              <a:gd name="adj" fmla="val 11628"/>
            </a:avLst>
          </a:prstGeom>
          <a:solidFill>
            <a:srgbClr val="1E293B"/>
          </a:solidFill>
          <a:ln w="12700">
            <a:solidFill>
              <a:srgbClr val="334155"/>
            </a:solidFill>
            <a:prstDash val="solid"/>
          </a:ln>
        </p:spPr>
      </p:sp>
      <p:sp>
        <p:nvSpPr>
          <p:cNvPr id="50" name="Shape 48"/>
          <p:cNvSpPr/>
          <p:nvPr/>
        </p:nvSpPr>
        <p:spPr>
          <a:xfrm>
            <a:off x="5943600" y="5660136"/>
            <a:ext cx="457200" cy="457200"/>
          </a:xfrm>
          <a:prstGeom prst="ellipse">
            <a:avLst/>
          </a:prstGeom>
          <a:solidFill>
            <a:srgbClr val="2563EB"/>
          </a:solidFill>
          <a:ln/>
        </p:spPr>
      </p:sp>
      <p:sp>
        <p:nvSpPr>
          <p:cNvPr id="51" name="Text 49"/>
          <p:cNvSpPr/>
          <p:nvPr/>
        </p:nvSpPr>
        <p:spPr>
          <a:xfrm>
            <a:off x="5943600" y="5660136"/>
            <a:ext cx="457200" cy="457200"/>
          </a:xfrm>
          <a:prstGeom prst="rect">
            <a:avLst/>
          </a:prstGeom>
          <a:noFill/>
          <a:ln/>
        </p:spPr>
        <p:txBody>
          <a:bodyPr wrap="square" lIns="0" tIns="0" rIns="0" bIns="0" rtlCol="0" anchor="ctr"/>
          <a:lstStyle/>
          <a:p>
            <a:pPr marL="0" indent="0" algn="ctr">
              <a:buNone/>
            </a:pPr>
            <a:r>
              <a:rPr lang="en-US" sz="1050" b="1" dirty="0">
                <a:solidFill>
                  <a:srgbClr val="F8FAFC"/>
                </a:solidFill>
                <a:latin typeface="Calibri" pitchFamily="34" charset="0"/>
                <a:ea typeface="Calibri" pitchFamily="34" charset="-122"/>
                <a:cs typeface="Calibri" pitchFamily="34" charset="-120"/>
              </a:rPr>
              <a:t>GH</a:t>
            </a:r>
            <a:endParaRPr lang="en-US" sz="1050" dirty="0"/>
          </a:p>
        </p:txBody>
      </p:sp>
      <p:sp>
        <p:nvSpPr>
          <p:cNvPr id="52" name="Text 50"/>
          <p:cNvSpPr/>
          <p:nvPr/>
        </p:nvSpPr>
        <p:spPr>
          <a:xfrm>
            <a:off x="6492240" y="5495544"/>
            <a:ext cx="1508760" cy="786384"/>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GitHub</a:t>
            </a:r>
            <a:endParaRPr lang="en-US" sz="1200" dirty="0"/>
          </a:p>
        </p:txBody>
      </p:sp>
      <p:sp>
        <p:nvSpPr>
          <p:cNvPr id="53" name="Text 51"/>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54" name="Text 52"/>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OUTPUT</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Dashboard &amp; Output</a:t>
            </a:r>
            <a:endParaRPr lang="en-US" sz="3000" dirty="0"/>
          </a:p>
        </p:txBody>
      </p:sp>
      <p:sp>
        <p:nvSpPr>
          <p:cNvPr id="4" name="Shape 2"/>
          <p:cNvSpPr/>
          <p:nvPr/>
        </p:nvSpPr>
        <p:spPr>
          <a:xfrm>
            <a:off x="548640" y="1691640"/>
            <a:ext cx="2606040" cy="1874520"/>
          </a:xfrm>
          <a:prstGeom prst="roundRect">
            <a:avLst>
              <a:gd name="adj" fmla="val 4878"/>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5" name="Shape 3"/>
          <p:cNvSpPr/>
          <p:nvPr/>
        </p:nvSpPr>
        <p:spPr>
          <a:xfrm>
            <a:off x="713232" y="1856232"/>
            <a:ext cx="2276856" cy="1188720"/>
          </a:xfrm>
          <a:prstGeom prst="roundRect">
            <a:avLst>
              <a:gd name="adj" fmla="val 4615"/>
            </a:avLst>
          </a:prstGeom>
          <a:solidFill>
            <a:srgbClr val="111C33"/>
          </a:solidFill>
          <a:ln w="12700">
            <a:solidFill>
              <a:srgbClr val="334155"/>
            </a:solidFill>
            <a:prstDash val="dash"/>
          </a:ln>
        </p:spPr>
      </p:sp>
      <p:sp>
        <p:nvSpPr>
          <p:cNvPr id="6" name="Text 4"/>
          <p:cNvSpPr/>
          <p:nvPr/>
        </p:nvSpPr>
        <p:spPr>
          <a:xfrm>
            <a:off x="713232" y="1856232"/>
            <a:ext cx="2276856" cy="11887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Screenshot</a:t>
            </a:r>
            <a:endParaRPr lang="en-US" sz="1050" dirty="0"/>
          </a:p>
          <a:p>
            <a:pPr marL="0" indent="0" algn="ctr">
              <a:buNone/>
            </a:pPr>
            <a:r>
              <a:rPr lang="en-US" sz="1050" i="1" dirty="0">
                <a:solidFill>
                  <a:srgbClr val="64748B"/>
                </a:solidFill>
                <a:latin typeface="Calibri" pitchFamily="34" charset="0"/>
                <a:ea typeface="Calibri" pitchFamily="34" charset="-122"/>
                <a:cs typeface="Calibri" pitchFamily="34" charset="-120"/>
              </a:rPr>
              <a:t>Placeholder</a:t>
            </a:r>
            <a:endParaRPr lang="en-US" sz="1050" dirty="0"/>
          </a:p>
        </p:txBody>
      </p:sp>
      <p:sp>
        <p:nvSpPr>
          <p:cNvPr id="7" name="Text 5"/>
          <p:cNvSpPr/>
          <p:nvPr/>
        </p:nvSpPr>
        <p:spPr>
          <a:xfrm>
            <a:off x="685800" y="3108960"/>
            <a:ext cx="2331720" cy="365760"/>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Dashboard Home</a:t>
            </a:r>
            <a:endParaRPr lang="en-US" sz="1150" dirty="0"/>
          </a:p>
        </p:txBody>
      </p:sp>
      <p:sp>
        <p:nvSpPr>
          <p:cNvPr id="8" name="Shape 6"/>
          <p:cNvSpPr/>
          <p:nvPr/>
        </p:nvSpPr>
        <p:spPr>
          <a:xfrm>
            <a:off x="3355848" y="1691640"/>
            <a:ext cx="2606040" cy="1874520"/>
          </a:xfrm>
          <a:prstGeom prst="roundRect">
            <a:avLst>
              <a:gd name="adj" fmla="val 4878"/>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9" name="Shape 7"/>
          <p:cNvSpPr/>
          <p:nvPr/>
        </p:nvSpPr>
        <p:spPr>
          <a:xfrm>
            <a:off x="3520440" y="1856232"/>
            <a:ext cx="2276856" cy="1188720"/>
          </a:xfrm>
          <a:prstGeom prst="roundRect">
            <a:avLst>
              <a:gd name="adj" fmla="val 4615"/>
            </a:avLst>
          </a:prstGeom>
          <a:solidFill>
            <a:srgbClr val="111C33"/>
          </a:solidFill>
          <a:ln w="12700">
            <a:solidFill>
              <a:srgbClr val="334155"/>
            </a:solidFill>
            <a:prstDash val="dash"/>
          </a:ln>
        </p:spPr>
      </p:sp>
      <p:sp>
        <p:nvSpPr>
          <p:cNvPr id="10" name="Text 8"/>
          <p:cNvSpPr/>
          <p:nvPr/>
        </p:nvSpPr>
        <p:spPr>
          <a:xfrm>
            <a:off x="3520440" y="1856232"/>
            <a:ext cx="2276856" cy="11887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Screenshot</a:t>
            </a:r>
            <a:endParaRPr lang="en-US" sz="1050" dirty="0"/>
          </a:p>
          <a:p>
            <a:pPr marL="0" indent="0" algn="ctr">
              <a:buNone/>
            </a:pPr>
            <a:r>
              <a:rPr lang="en-US" sz="1050" i="1" dirty="0">
                <a:solidFill>
                  <a:srgbClr val="64748B"/>
                </a:solidFill>
                <a:latin typeface="Calibri" pitchFamily="34" charset="0"/>
                <a:ea typeface="Calibri" pitchFamily="34" charset="-122"/>
                <a:cs typeface="Calibri" pitchFamily="34" charset="-120"/>
              </a:rPr>
              <a:t>Placeholder</a:t>
            </a:r>
            <a:endParaRPr lang="en-US" sz="1050" dirty="0"/>
          </a:p>
        </p:txBody>
      </p:sp>
      <p:sp>
        <p:nvSpPr>
          <p:cNvPr id="11" name="Text 9"/>
          <p:cNvSpPr/>
          <p:nvPr/>
        </p:nvSpPr>
        <p:spPr>
          <a:xfrm>
            <a:off x="3493008" y="3108960"/>
            <a:ext cx="2331720" cy="365760"/>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CPU</a:t>
            </a:r>
            <a:endParaRPr lang="en-US" sz="1150" dirty="0"/>
          </a:p>
        </p:txBody>
      </p:sp>
      <p:sp>
        <p:nvSpPr>
          <p:cNvPr id="12" name="Shape 10"/>
          <p:cNvSpPr/>
          <p:nvPr/>
        </p:nvSpPr>
        <p:spPr>
          <a:xfrm>
            <a:off x="6163056" y="1691640"/>
            <a:ext cx="2606040" cy="1874520"/>
          </a:xfrm>
          <a:prstGeom prst="roundRect">
            <a:avLst>
              <a:gd name="adj" fmla="val 4878"/>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13" name="Shape 11"/>
          <p:cNvSpPr/>
          <p:nvPr/>
        </p:nvSpPr>
        <p:spPr>
          <a:xfrm>
            <a:off x="6327648" y="1856232"/>
            <a:ext cx="2276856" cy="1188720"/>
          </a:xfrm>
          <a:prstGeom prst="roundRect">
            <a:avLst>
              <a:gd name="adj" fmla="val 4615"/>
            </a:avLst>
          </a:prstGeom>
          <a:solidFill>
            <a:srgbClr val="111C33"/>
          </a:solidFill>
          <a:ln w="12700">
            <a:solidFill>
              <a:srgbClr val="334155"/>
            </a:solidFill>
            <a:prstDash val="dash"/>
          </a:ln>
        </p:spPr>
      </p:sp>
      <p:sp>
        <p:nvSpPr>
          <p:cNvPr id="14" name="Text 12"/>
          <p:cNvSpPr/>
          <p:nvPr/>
        </p:nvSpPr>
        <p:spPr>
          <a:xfrm>
            <a:off x="6327648" y="1856232"/>
            <a:ext cx="2276856" cy="11887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Screenshot</a:t>
            </a:r>
            <a:endParaRPr lang="en-US" sz="1050" dirty="0"/>
          </a:p>
          <a:p>
            <a:pPr marL="0" indent="0" algn="ctr">
              <a:buNone/>
            </a:pPr>
            <a:r>
              <a:rPr lang="en-US" sz="1050" i="1" dirty="0">
                <a:solidFill>
                  <a:srgbClr val="64748B"/>
                </a:solidFill>
                <a:latin typeface="Calibri" pitchFamily="34" charset="0"/>
                <a:ea typeface="Calibri" pitchFamily="34" charset="-122"/>
                <a:cs typeface="Calibri" pitchFamily="34" charset="-120"/>
              </a:rPr>
              <a:t>Placeholder</a:t>
            </a:r>
            <a:endParaRPr lang="en-US" sz="1050" dirty="0"/>
          </a:p>
        </p:txBody>
      </p:sp>
      <p:sp>
        <p:nvSpPr>
          <p:cNvPr id="15" name="Text 13"/>
          <p:cNvSpPr/>
          <p:nvPr/>
        </p:nvSpPr>
        <p:spPr>
          <a:xfrm>
            <a:off x="6300216" y="3108960"/>
            <a:ext cx="2331720" cy="365760"/>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RAM</a:t>
            </a:r>
            <a:endParaRPr lang="en-US" sz="1150" dirty="0"/>
          </a:p>
        </p:txBody>
      </p:sp>
      <p:sp>
        <p:nvSpPr>
          <p:cNvPr id="16" name="Shape 14"/>
          <p:cNvSpPr/>
          <p:nvPr/>
        </p:nvSpPr>
        <p:spPr>
          <a:xfrm>
            <a:off x="8970264" y="1691640"/>
            <a:ext cx="2606040" cy="1874520"/>
          </a:xfrm>
          <a:prstGeom prst="roundRect">
            <a:avLst>
              <a:gd name="adj" fmla="val 4878"/>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17" name="Shape 15"/>
          <p:cNvSpPr/>
          <p:nvPr/>
        </p:nvSpPr>
        <p:spPr>
          <a:xfrm>
            <a:off x="9134856" y="1856232"/>
            <a:ext cx="2276856" cy="1188720"/>
          </a:xfrm>
          <a:prstGeom prst="roundRect">
            <a:avLst>
              <a:gd name="adj" fmla="val 4615"/>
            </a:avLst>
          </a:prstGeom>
          <a:solidFill>
            <a:srgbClr val="111C33"/>
          </a:solidFill>
          <a:ln w="12700">
            <a:solidFill>
              <a:srgbClr val="334155"/>
            </a:solidFill>
            <a:prstDash val="dash"/>
          </a:ln>
        </p:spPr>
      </p:sp>
      <p:sp>
        <p:nvSpPr>
          <p:cNvPr id="18" name="Text 16"/>
          <p:cNvSpPr/>
          <p:nvPr/>
        </p:nvSpPr>
        <p:spPr>
          <a:xfrm>
            <a:off x="9134856" y="1856232"/>
            <a:ext cx="2276856" cy="11887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Screenshot</a:t>
            </a:r>
            <a:endParaRPr lang="en-US" sz="1050" dirty="0"/>
          </a:p>
          <a:p>
            <a:pPr marL="0" indent="0" algn="ctr">
              <a:buNone/>
            </a:pPr>
            <a:r>
              <a:rPr lang="en-US" sz="1050" i="1" dirty="0">
                <a:solidFill>
                  <a:srgbClr val="64748B"/>
                </a:solidFill>
                <a:latin typeface="Calibri" pitchFamily="34" charset="0"/>
                <a:ea typeface="Calibri" pitchFamily="34" charset="-122"/>
                <a:cs typeface="Calibri" pitchFamily="34" charset="-120"/>
              </a:rPr>
              <a:t>Placeholder</a:t>
            </a:r>
            <a:endParaRPr lang="en-US" sz="1050" dirty="0"/>
          </a:p>
        </p:txBody>
      </p:sp>
      <p:sp>
        <p:nvSpPr>
          <p:cNvPr id="19" name="Text 17"/>
          <p:cNvSpPr/>
          <p:nvPr/>
        </p:nvSpPr>
        <p:spPr>
          <a:xfrm>
            <a:off x="9107424" y="3108960"/>
            <a:ext cx="2331720" cy="365760"/>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Disk</a:t>
            </a:r>
            <a:endParaRPr lang="en-US" sz="1150" dirty="0"/>
          </a:p>
        </p:txBody>
      </p:sp>
      <p:sp>
        <p:nvSpPr>
          <p:cNvPr id="20" name="Shape 18"/>
          <p:cNvSpPr/>
          <p:nvPr/>
        </p:nvSpPr>
        <p:spPr>
          <a:xfrm>
            <a:off x="548640" y="3822192"/>
            <a:ext cx="2606040" cy="1874520"/>
          </a:xfrm>
          <a:prstGeom prst="roundRect">
            <a:avLst>
              <a:gd name="adj" fmla="val 4878"/>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21" name="Shape 19"/>
          <p:cNvSpPr/>
          <p:nvPr/>
        </p:nvSpPr>
        <p:spPr>
          <a:xfrm>
            <a:off x="713232" y="3986784"/>
            <a:ext cx="2276856" cy="1188720"/>
          </a:xfrm>
          <a:prstGeom prst="roundRect">
            <a:avLst>
              <a:gd name="adj" fmla="val 4615"/>
            </a:avLst>
          </a:prstGeom>
          <a:solidFill>
            <a:srgbClr val="111C33"/>
          </a:solidFill>
          <a:ln w="12700">
            <a:solidFill>
              <a:srgbClr val="334155"/>
            </a:solidFill>
            <a:prstDash val="dash"/>
          </a:ln>
        </p:spPr>
      </p:sp>
      <p:sp>
        <p:nvSpPr>
          <p:cNvPr id="22" name="Text 20"/>
          <p:cNvSpPr/>
          <p:nvPr/>
        </p:nvSpPr>
        <p:spPr>
          <a:xfrm>
            <a:off x="713232" y="3986784"/>
            <a:ext cx="2276856" cy="11887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Screenshot</a:t>
            </a:r>
            <a:endParaRPr lang="en-US" sz="1050" dirty="0"/>
          </a:p>
          <a:p>
            <a:pPr marL="0" indent="0" algn="ctr">
              <a:buNone/>
            </a:pPr>
            <a:r>
              <a:rPr lang="en-US" sz="1050" i="1" dirty="0">
                <a:solidFill>
                  <a:srgbClr val="64748B"/>
                </a:solidFill>
                <a:latin typeface="Calibri" pitchFamily="34" charset="0"/>
                <a:ea typeface="Calibri" pitchFamily="34" charset="-122"/>
                <a:cs typeface="Calibri" pitchFamily="34" charset="-120"/>
              </a:rPr>
              <a:t>Placeholder</a:t>
            </a:r>
            <a:endParaRPr lang="en-US" sz="1050" dirty="0"/>
          </a:p>
        </p:txBody>
      </p:sp>
      <p:sp>
        <p:nvSpPr>
          <p:cNvPr id="23" name="Text 21"/>
          <p:cNvSpPr/>
          <p:nvPr/>
        </p:nvSpPr>
        <p:spPr>
          <a:xfrm>
            <a:off x="685800" y="5239512"/>
            <a:ext cx="2331720" cy="365760"/>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Network</a:t>
            </a:r>
            <a:endParaRPr lang="en-US" sz="1150" dirty="0"/>
          </a:p>
        </p:txBody>
      </p:sp>
      <p:sp>
        <p:nvSpPr>
          <p:cNvPr id="24" name="Shape 22"/>
          <p:cNvSpPr/>
          <p:nvPr/>
        </p:nvSpPr>
        <p:spPr>
          <a:xfrm>
            <a:off x="3355848" y="3822192"/>
            <a:ext cx="2606040" cy="1874520"/>
          </a:xfrm>
          <a:prstGeom prst="roundRect">
            <a:avLst>
              <a:gd name="adj" fmla="val 4878"/>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25" name="Shape 23"/>
          <p:cNvSpPr/>
          <p:nvPr/>
        </p:nvSpPr>
        <p:spPr>
          <a:xfrm>
            <a:off x="3520440" y="3986784"/>
            <a:ext cx="2276856" cy="1188720"/>
          </a:xfrm>
          <a:prstGeom prst="roundRect">
            <a:avLst>
              <a:gd name="adj" fmla="val 4615"/>
            </a:avLst>
          </a:prstGeom>
          <a:solidFill>
            <a:srgbClr val="111C33"/>
          </a:solidFill>
          <a:ln w="12700">
            <a:solidFill>
              <a:srgbClr val="334155"/>
            </a:solidFill>
            <a:prstDash val="dash"/>
          </a:ln>
        </p:spPr>
      </p:sp>
      <p:sp>
        <p:nvSpPr>
          <p:cNvPr id="26" name="Text 24"/>
          <p:cNvSpPr/>
          <p:nvPr/>
        </p:nvSpPr>
        <p:spPr>
          <a:xfrm>
            <a:off x="3520440" y="3986784"/>
            <a:ext cx="2276856" cy="11887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Screenshot</a:t>
            </a:r>
            <a:endParaRPr lang="en-US" sz="1050" dirty="0"/>
          </a:p>
          <a:p>
            <a:pPr marL="0" indent="0" algn="ctr">
              <a:buNone/>
            </a:pPr>
            <a:r>
              <a:rPr lang="en-US" sz="1050" i="1" dirty="0">
                <a:solidFill>
                  <a:srgbClr val="64748B"/>
                </a:solidFill>
                <a:latin typeface="Calibri" pitchFamily="34" charset="0"/>
                <a:ea typeface="Calibri" pitchFamily="34" charset="-122"/>
                <a:cs typeface="Calibri" pitchFamily="34" charset="-120"/>
              </a:rPr>
              <a:t>Placeholder</a:t>
            </a:r>
            <a:endParaRPr lang="en-US" sz="1050" dirty="0"/>
          </a:p>
        </p:txBody>
      </p:sp>
      <p:sp>
        <p:nvSpPr>
          <p:cNvPr id="27" name="Text 25"/>
          <p:cNvSpPr/>
          <p:nvPr/>
        </p:nvSpPr>
        <p:spPr>
          <a:xfrm>
            <a:off x="3493008" y="5239512"/>
            <a:ext cx="2331720" cy="365760"/>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Running Processes</a:t>
            </a:r>
            <a:endParaRPr lang="en-US" sz="1150" dirty="0"/>
          </a:p>
        </p:txBody>
      </p:sp>
      <p:sp>
        <p:nvSpPr>
          <p:cNvPr id="28" name="Shape 26"/>
          <p:cNvSpPr/>
          <p:nvPr/>
        </p:nvSpPr>
        <p:spPr>
          <a:xfrm>
            <a:off x="6163056" y="3822192"/>
            <a:ext cx="2606040" cy="1874520"/>
          </a:xfrm>
          <a:prstGeom prst="roundRect">
            <a:avLst>
              <a:gd name="adj" fmla="val 4878"/>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29" name="Shape 27"/>
          <p:cNvSpPr/>
          <p:nvPr/>
        </p:nvSpPr>
        <p:spPr>
          <a:xfrm>
            <a:off x="6327648" y="3986784"/>
            <a:ext cx="2276856" cy="1188720"/>
          </a:xfrm>
          <a:prstGeom prst="roundRect">
            <a:avLst>
              <a:gd name="adj" fmla="val 4615"/>
            </a:avLst>
          </a:prstGeom>
          <a:solidFill>
            <a:srgbClr val="111C33"/>
          </a:solidFill>
          <a:ln w="12700">
            <a:solidFill>
              <a:srgbClr val="334155"/>
            </a:solidFill>
            <a:prstDash val="dash"/>
          </a:ln>
        </p:spPr>
      </p:sp>
      <p:sp>
        <p:nvSpPr>
          <p:cNvPr id="30" name="Text 28"/>
          <p:cNvSpPr/>
          <p:nvPr/>
        </p:nvSpPr>
        <p:spPr>
          <a:xfrm>
            <a:off x="6327648" y="3986784"/>
            <a:ext cx="2276856" cy="11887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Screenshot</a:t>
            </a:r>
            <a:endParaRPr lang="en-US" sz="1050" dirty="0"/>
          </a:p>
          <a:p>
            <a:pPr marL="0" indent="0" algn="ctr">
              <a:buNone/>
            </a:pPr>
            <a:r>
              <a:rPr lang="en-US" sz="1050" i="1" dirty="0">
                <a:solidFill>
                  <a:srgbClr val="64748B"/>
                </a:solidFill>
                <a:latin typeface="Calibri" pitchFamily="34" charset="0"/>
                <a:ea typeface="Calibri" pitchFamily="34" charset="-122"/>
                <a:cs typeface="Calibri" pitchFamily="34" charset="-120"/>
              </a:rPr>
              <a:t>Placeholder</a:t>
            </a:r>
            <a:endParaRPr lang="en-US" sz="1050" dirty="0"/>
          </a:p>
        </p:txBody>
      </p:sp>
      <p:sp>
        <p:nvSpPr>
          <p:cNvPr id="31" name="Text 29"/>
          <p:cNvSpPr/>
          <p:nvPr/>
        </p:nvSpPr>
        <p:spPr>
          <a:xfrm>
            <a:off x="6300216" y="5239512"/>
            <a:ext cx="2331720" cy="365760"/>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Prediction</a:t>
            </a:r>
            <a:endParaRPr lang="en-US" sz="1150" dirty="0"/>
          </a:p>
        </p:txBody>
      </p:sp>
      <p:sp>
        <p:nvSpPr>
          <p:cNvPr id="32" name="Shape 30"/>
          <p:cNvSpPr/>
          <p:nvPr/>
        </p:nvSpPr>
        <p:spPr>
          <a:xfrm>
            <a:off x="8970264" y="3822192"/>
            <a:ext cx="2606040" cy="1874520"/>
          </a:xfrm>
          <a:prstGeom prst="roundRect">
            <a:avLst>
              <a:gd name="adj" fmla="val 4878"/>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33" name="Shape 31"/>
          <p:cNvSpPr/>
          <p:nvPr/>
        </p:nvSpPr>
        <p:spPr>
          <a:xfrm>
            <a:off x="9134856" y="3986784"/>
            <a:ext cx="2276856" cy="1188720"/>
          </a:xfrm>
          <a:prstGeom prst="roundRect">
            <a:avLst>
              <a:gd name="adj" fmla="val 4615"/>
            </a:avLst>
          </a:prstGeom>
          <a:solidFill>
            <a:srgbClr val="111C33"/>
          </a:solidFill>
          <a:ln w="12700">
            <a:solidFill>
              <a:srgbClr val="334155"/>
            </a:solidFill>
            <a:prstDash val="dash"/>
          </a:ln>
        </p:spPr>
      </p:sp>
      <p:sp>
        <p:nvSpPr>
          <p:cNvPr id="34" name="Text 32"/>
          <p:cNvSpPr/>
          <p:nvPr/>
        </p:nvSpPr>
        <p:spPr>
          <a:xfrm>
            <a:off x="9134856" y="3986784"/>
            <a:ext cx="2276856" cy="11887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Screenshot</a:t>
            </a:r>
            <a:endParaRPr lang="en-US" sz="1050" dirty="0"/>
          </a:p>
          <a:p>
            <a:pPr marL="0" indent="0" algn="ctr">
              <a:buNone/>
            </a:pPr>
            <a:r>
              <a:rPr lang="en-US" sz="1050" i="1" dirty="0">
                <a:solidFill>
                  <a:srgbClr val="64748B"/>
                </a:solidFill>
                <a:latin typeface="Calibri" pitchFamily="34" charset="0"/>
                <a:ea typeface="Calibri" pitchFamily="34" charset="-122"/>
                <a:cs typeface="Calibri" pitchFamily="34" charset="-120"/>
              </a:rPr>
              <a:t>Placeholder</a:t>
            </a:r>
            <a:endParaRPr lang="en-US" sz="1050" dirty="0"/>
          </a:p>
        </p:txBody>
      </p:sp>
      <p:sp>
        <p:nvSpPr>
          <p:cNvPr id="35" name="Text 33"/>
          <p:cNvSpPr/>
          <p:nvPr/>
        </p:nvSpPr>
        <p:spPr>
          <a:xfrm>
            <a:off x="9107424" y="5239512"/>
            <a:ext cx="2331720" cy="365760"/>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Alerts &amp; Recommendations</a:t>
            </a:r>
            <a:endParaRPr lang="en-US" sz="1150" dirty="0"/>
          </a:p>
        </p:txBody>
      </p:sp>
      <p:sp>
        <p:nvSpPr>
          <p:cNvPr id="36" name="Text 34"/>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37" name="Text 35"/>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Results, Performance Evaluation &amp; Benefits</a:t>
            </a:r>
            <a:endParaRPr lang="en-US" sz="3000" dirty="0"/>
          </a:p>
        </p:txBody>
      </p:sp>
      <p:sp>
        <p:nvSpPr>
          <p:cNvPr id="4" name="Text 2"/>
          <p:cNvSpPr/>
          <p:nvPr/>
        </p:nvSpPr>
        <p:spPr>
          <a:xfrm>
            <a:off x="548640" y="1572768"/>
            <a:ext cx="6309360" cy="320040"/>
          </a:xfrm>
          <a:prstGeom prst="rect">
            <a:avLst/>
          </a:prstGeom>
          <a:noFill/>
          <a:ln/>
        </p:spPr>
        <p:txBody>
          <a:bodyPr wrap="square" rtlCol="0" anchor="ctr"/>
          <a:lstStyle/>
          <a:p>
            <a:pPr marL="0" indent="0">
              <a:buNone/>
            </a:pPr>
            <a:r>
              <a:rPr lang="en-US" sz="1150" i="1" dirty="0">
                <a:solidFill>
                  <a:srgbClr val="94A3B8"/>
                </a:solidFill>
                <a:latin typeface="Calibri" pitchFamily="34" charset="0"/>
                <a:ea typeface="Calibri" pitchFamily="34" charset="-122"/>
                <a:cs typeface="Calibri" pitchFamily="34" charset="-120"/>
              </a:rPr>
              <a:t>Sample Result — Predicted vs Actual CPU Usage (illustrative)</a:t>
            </a:r>
            <a:endParaRPr lang="en-US" sz="1150" dirty="0"/>
          </a:p>
        </p:txBody>
      </p:sp>
      <p:graphicFrame>
        <p:nvGraphicFramePr>
          <p:cNvPr id="5" name="Chart 0"/>
          <p:cNvGraphicFramePr/>
          <p:nvPr/>
        </p:nvGraphicFramePr>
        <p:xfrm>
          <a:off x="548640" y="1920240"/>
          <a:ext cx="63093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178040" y="1920240"/>
            <a:ext cx="4480560" cy="3931920"/>
          </a:xfrm>
          <a:prstGeom prst="rect">
            <a:avLst/>
          </a:prstGeom>
          <a:noFill/>
          <a:ln/>
        </p:spPr>
        <p:txBody>
          <a:bodyPr wrap="square" lIns="0" tIns="0" rIns="0" bIns="0" rtlCol="0" anchor="t"/>
          <a:lstStyle/>
          <a:p>
            <a:pPr marL="228600" indent="-228600">
              <a:lnSpc>
                <a:spcPct val="115000"/>
              </a:lnSpc>
              <a:spcAft>
                <a:spcPts val="1100"/>
              </a:spcAft>
              <a:buSzPct val="100000"/>
              <a:buChar char="•"/>
            </a:pPr>
            <a:r>
              <a:rPr lang="en-US" sz="1250" dirty="0">
                <a:solidFill>
                  <a:srgbClr val="F8FAFC"/>
                </a:solidFill>
                <a:latin typeface="Calibri" pitchFamily="34" charset="0"/>
                <a:ea typeface="Calibri" pitchFamily="34" charset="-122"/>
                <a:cs typeface="Calibri" pitchFamily="34" charset="-120"/>
              </a:rPr>
              <a:t>Continuous OS-level visibility across CPU, memory, disk, network, and processes</a:t>
            </a:r>
            <a:endParaRPr lang="en-US" sz="1250" dirty="0"/>
          </a:p>
          <a:p>
            <a:pPr marL="228600" indent="-228600">
              <a:lnSpc>
                <a:spcPct val="115000"/>
              </a:lnSpc>
              <a:spcAft>
                <a:spcPts val="1100"/>
              </a:spcAft>
              <a:buSzPct val="100000"/>
              <a:buChar char="•"/>
            </a:pPr>
            <a:r>
              <a:rPr lang="en-US" sz="1250" dirty="0">
                <a:solidFill>
                  <a:srgbClr val="F8FAFC"/>
                </a:solidFill>
                <a:latin typeface="Calibri" pitchFamily="34" charset="0"/>
                <a:ea typeface="Calibri" pitchFamily="34" charset="-122"/>
                <a:cs typeface="Calibri" pitchFamily="34" charset="-120"/>
              </a:rPr>
              <a:t>Historical data enables trend analysis unavailable in standard OS tools</a:t>
            </a:r>
            <a:endParaRPr lang="en-US" sz="1250" dirty="0"/>
          </a:p>
          <a:p>
            <a:pPr marL="228600" indent="-228600">
              <a:lnSpc>
                <a:spcPct val="115000"/>
              </a:lnSpc>
              <a:spcAft>
                <a:spcPts val="1100"/>
              </a:spcAft>
              <a:buSzPct val="100000"/>
              <a:buChar char="•"/>
            </a:pPr>
            <a:r>
              <a:rPr lang="en-US" sz="1250" dirty="0">
                <a:solidFill>
                  <a:srgbClr val="F8FAFC"/>
                </a:solidFill>
                <a:latin typeface="Calibri" pitchFamily="34" charset="0"/>
                <a:ea typeface="Calibri" pitchFamily="34" charset="-122"/>
                <a:cs typeface="Calibri" pitchFamily="34" charset="-120"/>
              </a:rPr>
              <a:t>Early warning via anomaly detection reduces reactive troubleshooting</a:t>
            </a:r>
            <a:endParaRPr lang="en-US" sz="1250" dirty="0"/>
          </a:p>
          <a:p>
            <a:pPr marL="228600" indent="-228600">
              <a:lnSpc>
                <a:spcPct val="115000"/>
              </a:lnSpc>
              <a:spcAft>
                <a:spcPts val="1100"/>
              </a:spcAft>
              <a:buSzPct val="100000"/>
              <a:buChar char="•"/>
            </a:pPr>
            <a:r>
              <a:rPr lang="en-US" sz="1250" dirty="0">
                <a:solidFill>
                  <a:srgbClr val="F8FAFC"/>
                </a:solidFill>
                <a:latin typeface="Calibri" pitchFamily="34" charset="0"/>
                <a:ea typeface="Calibri" pitchFamily="34" charset="-122"/>
                <a:cs typeface="Calibri" pitchFamily="34" charset="-120"/>
              </a:rPr>
              <a:t>Recommendations translate raw metrics into OS-tuning actions</a:t>
            </a:r>
            <a:endParaRPr lang="en-US" sz="1250" dirty="0"/>
          </a:p>
          <a:p>
            <a:pPr marL="228600" indent="-228600">
              <a:lnSpc>
                <a:spcPct val="115000"/>
              </a:lnSpc>
              <a:spcAft>
                <a:spcPts val="1100"/>
              </a:spcAft>
              <a:buSzPct val="100000"/>
              <a:buChar char="•"/>
            </a:pPr>
            <a:r>
              <a:rPr lang="en-US" sz="1250" dirty="0">
                <a:solidFill>
                  <a:srgbClr val="F8FAFC"/>
                </a:solidFill>
                <a:latin typeface="Calibri" pitchFamily="34" charset="0"/>
                <a:ea typeface="Calibri" pitchFamily="34" charset="-122"/>
                <a:cs typeface="Calibri" pitchFamily="34" charset="-120"/>
              </a:rPr>
              <a:t>Lightweight stack keeps monitoring overhead low on the host OS</a:t>
            </a:r>
            <a:endParaRPr lang="en-US" sz="1250" dirty="0"/>
          </a:p>
        </p:txBody>
      </p:sp>
      <p:sp>
        <p:nvSpPr>
          <p:cNvPr id="7" name="Text 4"/>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8" name="Text 5"/>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38BDF8"/>
                </a:solidFill>
                <a:latin typeface="Calibri" pitchFamily="34" charset="0"/>
                <a:ea typeface="Calibri" pitchFamily="34" charset="-122"/>
                <a:cs typeface="Calibri" pitchFamily="34" charset="-120"/>
              </a:rPr>
              <a:t>IMPACT</a:t>
            </a:r>
            <a:endParaRPr lang="en-US" sz="1200" dirty="0"/>
          </a:p>
        </p:txBody>
      </p:sp>
      <p:sp>
        <p:nvSpPr>
          <p:cNvPr id="3" name="Text 1"/>
          <p:cNvSpPr/>
          <p:nvPr/>
        </p:nvSpPr>
        <p:spPr>
          <a:xfrm>
            <a:off x="548640" y="749808"/>
            <a:ext cx="10607040" cy="640080"/>
          </a:xfrm>
          <a:prstGeom prst="rect">
            <a:avLst/>
          </a:prstGeom>
          <a:noFill/>
          <a:ln/>
        </p:spPr>
        <p:txBody>
          <a:bodyPr wrap="square" lIns="0" tIns="0" rIns="0" bIns="0" rtlCol="0" anchor="ctr"/>
          <a:lstStyle/>
          <a:p>
            <a:pPr marL="0" indent="0">
              <a:buNone/>
            </a:pPr>
            <a:r>
              <a:rPr lang="en-US" sz="3000" b="1" dirty="0">
                <a:solidFill>
                  <a:srgbClr val="F8FAFC"/>
                </a:solidFill>
                <a:latin typeface="Poppins" pitchFamily="34" charset="0"/>
                <a:ea typeface="Poppins" pitchFamily="34" charset="-122"/>
                <a:cs typeface="Poppins" pitchFamily="34" charset="-120"/>
              </a:rPr>
              <a:t>Applications &amp; Future Scope</a:t>
            </a:r>
            <a:endParaRPr lang="en-US" sz="3000" dirty="0"/>
          </a:p>
        </p:txBody>
      </p:sp>
      <p:sp>
        <p:nvSpPr>
          <p:cNvPr id="4" name="Shape 2"/>
          <p:cNvSpPr/>
          <p:nvPr/>
        </p:nvSpPr>
        <p:spPr>
          <a:xfrm>
            <a:off x="548640" y="1691640"/>
            <a:ext cx="5394960" cy="4206240"/>
          </a:xfrm>
          <a:prstGeom prst="roundRect">
            <a:avLst>
              <a:gd name="adj" fmla="val 2174"/>
            </a:avLst>
          </a:prstGeom>
          <a:solidFill>
            <a:srgbClr val="1E293B"/>
          </a:solidFill>
          <a:ln w="12700">
            <a:solidFill>
              <a:srgbClr val="334155"/>
            </a:solidFill>
            <a:prstDash val="solid"/>
          </a:ln>
          <a:effectLst>
            <a:outerShdw blurRad="101600" dist="38100" dir="5400000" algn="bl" rotWithShape="0">
              <a:srgbClr val="000000">
                <a:alpha val="35000"/>
              </a:srgbClr>
            </a:outerShdw>
          </a:effectLst>
        </p:spPr>
      </p:sp>
      <p:sp>
        <p:nvSpPr>
          <p:cNvPr id="5" name="Text 3"/>
          <p:cNvSpPr/>
          <p:nvPr/>
        </p:nvSpPr>
        <p:spPr>
          <a:xfrm>
            <a:off x="868680" y="1920240"/>
            <a:ext cx="4754880" cy="411480"/>
          </a:xfrm>
          <a:prstGeom prst="rect">
            <a:avLst/>
          </a:prstGeom>
          <a:noFill/>
          <a:ln/>
        </p:spPr>
        <p:txBody>
          <a:bodyPr wrap="square" lIns="0" tIns="0" rIns="0" bIns="0" rtlCol="0" anchor="ctr"/>
          <a:lstStyle/>
          <a:p>
            <a:pPr marL="0" indent="0">
              <a:buNone/>
            </a:pPr>
            <a:r>
              <a:rPr lang="en-US" sz="1700" b="1" dirty="0">
                <a:solidFill>
                  <a:srgbClr val="38BDF8"/>
                </a:solidFill>
                <a:latin typeface="Poppins" pitchFamily="34" charset="0"/>
                <a:ea typeface="Poppins" pitchFamily="34" charset="-122"/>
                <a:cs typeface="Poppins" pitchFamily="34" charset="-120"/>
              </a:rPr>
              <a:t>Applications</a:t>
            </a:r>
            <a:endParaRPr lang="en-US" sz="1700" dirty="0"/>
          </a:p>
        </p:txBody>
      </p:sp>
      <p:sp>
        <p:nvSpPr>
          <p:cNvPr id="6" name="Text 4"/>
          <p:cNvSpPr/>
          <p:nvPr/>
        </p:nvSpPr>
        <p:spPr>
          <a:xfrm>
            <a:off x="868680" y="2468880"/>
            <a:ext cx="4754880" cy="329184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350" dirty="0">
                <a:solidFill>
                  <a:srgbClr val="F8FAFC"/>
                </a:solidFill>
                <a:latin typeface="Calibri" pitchFamily="34" charset="0"/>
                <a:ea typeface="Calibri" pitchFamily="34" charset="-122"/>
                <a:cs typeface="Calibri" pitchFamily="34" charset="-120"/>
              </a:rPr>
              <a:t>Campus computer labs and shared lab servers</a:t>
            </a:r>
            <a:endParaRPr lang="en-US" sz="1350" dirty="0"/>
          </a:p>
          <a:p>
            <a:pPr marL="228600" indent="-228600">
              <a:lnSpc>
                <a:spcPct val="115000"/>
              </a:lnSpc>
              <a:spcAft>
                <a:spcPts val="1300"/>
              </a:spcAft>
              <a:buSzPct val="100000"/>
              <a:buChar char="•"/>
            </a:pPr>
            <a:r>
              <a:rPr lang="en-US" sz="1350" dirty="0">
                <a:solidFill>
                  <a:srgbClr val="F8FAFC"/>
                </a:solidFill>
                <a:latin typeface="Calibri" pitchFamily="34" charset="0"/>
                <a:ea typeface="Calibri" pitchFamily="34" charset="-122"/>
                <a:cs typeface="Calibri" pitchFamily="34" charset="-120"/>
              </a:rPr>
              <a:t>Small business and departmental IT infrastructure</a:t>
            </a:r>
            <a:endParaRPr lang="en-US" sz="1350" dirty="0"/>
          </a:p>
          <a:p>
            <a:pPr marL="228600" indent="-228600">
              <a:lnSpc>
                <a:spcPct val="115000"/>
              </a:lnSpc>
              <a:spcAft>
                <a:spcPts val="1300"/>
              </a:spcAft>
              <a:buSzPct val="100000"/>
              <a:buChar char="•"/>
            </a:pPr>
            <a:r>
              <a:rPr lang="en-US" sz="1350" dirty="0">
                <a:solidFill>
                  <a:srgbClr val="F8FAFC"/>
                </a:solidFill>
                <a:latin typeface="Calibri" pitchFamily="34" charset="0"/>
                <a:ea typeface="Calibri" pitchFamily="34" charset="-122"/>
                <a:cs typeface="Calibri" pitchFamily="34" charset="-120"/>
              </a:rPr>
              <a:t>Cloud virtual machines and single-node servers</a:t>
            </a:r>
            <a:endParaRPr lang="en-US" sz="1350" dirty="0"/>
          </a:p>
          <a:p>
            <a:pPr marL="228600" indent="-228600">
              <a:lnSpc>
                <a:spcPct val="115000"/>
              </a:lnSpc>
              <a:spcAft>
                <a:spcPts val="1300"/>
              </a:spcAft>
              <a:buSzPct val="100000"/>
              <a:buChar char="•"/>
            </a:pPr>
            <a:r>
              <a:rPr lang="en-US" sz="1350" dirty="0">
                <a:solidFill>
                  <a:srgbClr val="F8FAFC"/>
                </a:solidFill>
                <a:latin typeface="Calibri" pitchFamily="34" charset="0"/>
                <a:ea typeface="Calibri" pitchFamily="34" charset="-122"/>
                <a:cs typeface="Calibri" pitchFamily="34" charset="-120"/>
              </a:rPr>
              <a:t>Educational tool for teaching OS resource concepts</a:t>
            </a:r>
            <a:endParaRPr lang="en-US" sz="1350" dirty="0"/>
          </a:p>
        </p:txBody>
      </p:sp>
      <p:sp>
        <p:nvSpPr>
          <p:cNvPr id="7" name="Shape 5"/>
          <p:cNvSpPr/>
          <p:nvPr/>
        </p:nvSpPr>
        <p:spPr>
          <a:xfrm>
            <a:off x="6217920" y="1691640"/>
            <a:ext cx="5394960" cy="4206240"/>
          </a:xfrm>
          <a:prstGeom prst="roundRect">
            <a:avLst>
              <a:gd name="adj" fmla="val 2174"/>
            </a:avLst>
          </a:prstGeom>
          <a:solidFill>
            <a:srgbClr val="24304A"/>
          </a:solidFill>
          <a:ln w="12700">
            <a:solidFill>
              <a:srgbClr val="334155"/>
            </a:solidFill>
            <a:prstDash val="solid"/>
          </a:ln>
          <a:effectLst>
            <a:outerShdw blurRad="101600" dist="38100" dir="5400000" algn="bl" rotWithShape="0">
              <a:srgbClr val="000000">
                <a:alpha val="35000"/>
              </a:srgbClr>
            </a:outerShdw>
          </a:effectLst>
        </p:spPr>
      </p:sp>
      <p:sp>
        <p:nvSpPr>
          <p:cNvPr id="8" name="Text 6"/>
          <p:cNvSpPr/>
          <p:nvPr/>
        </p:nvSpPr>
        <p:spPr>
          <a:xfrm>
            <a:off x="6537960" y="1920240"/>
            <a:ext cx="4754880" cy="411480"/>
          </a:xfrm>
          <a:prstGeom prst="rect">
            <a:avLst/>
          </a:prstGeom>
          <a:noFill/>
          <a:ln/>
        </p:spPr>
        <p:txBody>
          <a:bodyPr wrap="square" lIns="0" tIns="0" rIns="0" bIns="0" rtlCol="0" anchor="ctr"/>
          <a:lstStyle/>
          <a:p>
            <a:pPr marL="0" indent="0">
              <a:buNone/>
            </a:pPr>
            <a:r>
              <a:rPr lang="en-US" sz="1700" b="1" dirty="0">
                <a:solidFill>
                  <a:srgbClr val="38BDF8"/>
                </a:solidFill>
                <a:latin typeface="Poppins" pitchFamily="34" charset="0"/>
                <a:ea typeface="Poppins" pitchFamily="34" charset="-122"/>
                <a:cs typeface="Poppins" pitchFamily="34" charset="-120"/>
              </a:rPr>
              <a:t>Future Scope</a:t>
            </a:r>
            <a:endParaRPr lang="en-US" sz="1700" dirty="0"/>
          </a:p>
        </p:txBody>
      </p:sp>
      <p:sp>
        <p:nvSpPr>
          <p:cNvPr id="9" name="Text 7"/>
          <p:cNvSpPr/>
          <p:nvPr/>
        </p:nvSpPr>
        <p:spPr>
          <a:xfrm>
            <a:off x="6537960" y="2468880"/>
            <a:ext cx="4754880" cy="329184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350" dirty="0">
                <a:solidFill>
                  <a:srgbClr val="F8FAFC"/>
                </a:solidFill>
                <a:latin typeface="Calibri" pitchFamily="34" charset="0"/>
                <a:ea typeface="Calibri" pitchFamily="34" charset="-122"/>
                <a:cs typeface="Calibri" pitchFamily="34" charset="-120"/>
              </a:rPr>
              <a:t>Multi-node / distributed system monitoring</a:t>
            </a:r>
            <a:endParaRPr lang="en-US" sz="1350" dirty="0"/>
          </a:p>
          <a:p>
            <a:pPr marL="228600" indent="-228600">
              <a:lnSpc>
                <a:spcPct val="115000"/>
              </a:lnSpc>
              <a:spcAft>
                <a:spcPts val="1300"/>
              </a:spcAft>
              <a:buSzPct val="100000"/>
              <a:buChar char="•"/>
            </a:pPr>
            <a:r>
              <a:rPr lang="en-US" sz="1350" dirty="0">
                <a:solidFill>
                  <a:srgbClr val="F8FAFC"/>
                </a:solidFill>
                <a:latin typeface="Calibri" pitchFamily="34" charset="0"/>
                <a:ea typeface="Calibri" pitchFamily="34" charset="-122"/>
                <a:cs typeface="Calibri" pitchFamily="34" charset="-120"/>
              </a:rPr>
              <a:t>Deeper deep-learning models for prediction accuracy</a:t>
            </a:r>
            <a:endParaRPr lang="en-US" sz="1350" dirty="0"/>
          </a:p>
          <a:p>
            <a:pPr marL="228600" indent="-228600">
              <a:lnSpc>
                <a:spcPct val="115000"/>
              </a:lnSpc>
              <a:spcAft>
                <a:spcPts val="1300"/>
              </a:spcAft>
              <a:buSzPct val="100000"/>
              <a:buChar char="•"/>
            </a:pPr>
            <a:r>
              <a:rPr lang="en-US" sz="1350" dirty="0">
                <a:solidFill>
                  <a:srgbClr val="F8FAFC"/>
                </a:solidFill>
                <a:latin typeface="Calibri" pitchFamily="34" charset="0"/>
                <a:ea typeface="Calibri" pitchFamily="34" charset="-122"/>
                <a:cs typeface="Calibri" pitchFamily="34" charset="-120"/>
              </a:rPr>
              <a:t>Automated remediation, not just recommendations</a:t>
            </a:r>
            <a:endParaRPr lang="en-US" sz="1350" dirty="0"/>
          </a:p>
          <a:p>
            <a:pPr marL="228600" indent="-228600">
              <a:lnSpc>
                <a:spcPct val="115000"/>
              </a:lnSpc>
              <a:spcAft>
                <a:spcPts val="1300"/>
              </a:spcAft>
              <a:buSzPct val="100000"/>
              <a:buChar char="•"/>
            </a:pPr>
            <a:r>
              <a:rPr lang="en-US" sz="1350" dirty="0">
                <a:solidFill>
                  <a:srgbClr val="F8FAFC"/>
                </a:solidFill>
                <a:latin typeface="Calibri" pitchFamily="34" charset="0"/>
                <a:ea typeface="Calibri" pitchFamily="34" charset="-122"/>
                <a:cs typeface="Calibri" pitchFamily="34" charset="-120"/>
              </a:rPr>
              <a:t>Containerized deployment (Docker) for portability</a:t>
            </a:r>
            <a:endParaRPr lang="en-US" sz="1350" dirty="0"/>
          </a:p>
        </p:txBody>
      </p:sp>
      <p:sp>
        <p:nvSpPr>
          <p:cNvPr id="10" name="Text 8"/>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11" name="Text 9"/>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2563EB">
              <a:alpha val="15000"/>
            </a:srgbClr>
          </a:solidFill>
          <a:ln/>
        </p:spPr>
      </p:sp>
      <p:sp>
        <p:nvSpPr>
          <p:cNvPr id="3" name="Text 1"/>
          <p:cNvSpPr/>
          <p:nvPr/>
        </p:nvSpPr>
        <p:spPr>
          <a:xfrm>
            <a:off x="822960" y="1188720"/>
            <a:ext cx="7315200" cy="365760"/>
          </a:xfrm>
          <a:prstGeom prst="rect">
            <a:avLst/>
          </a:prstGeom>
          <a:noFill/>
          <a:ln/>
        </p:spPr>
        <p:txBody>
          <a:bodyPr wrap="square" rtlCol="0" anchor="ctr"/>
          <a:lstStyle/>
          <a:p>
            <a:pPr marL="0" indent="0">
              <a:buNone/>
            </a:pPr>
            <a:r>
              <a:rPr lang="en-US" sz="1300" b="1" kern="0" spc="200" dirty="0">
                <a:solidFill>
                  <a:srgbClr val="38BDF8"/>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822960" y="1600200"/>
            <a:ext cx="9601200" cy="1371600"/>
          </a:xfrm>
          <a:prstGeom prst="rect">
            <a:avLst/>
          </a:prstGeom>
          <a:noFill/>
          <a:ln/>
        </p:spPr>
        <p:txBody>
          <a:bodyPr wrap="square" lIns="0" tIns="0" rIns="0" bIns="0" rtlCol="0" anchor="ctr"/>
          <a:lstStyle/>
          <a:p>
            <a:pPr marL="0" indent="0">
              <a:lnSpc>
                <a:spcPct val="110000"/>
              </a:lnSpc>
              <a:buNone/>
            </a:pPr>
            <a:r>
              <a:rPr lang="en-US" sz="3200" b="1" dirty="0">
                <a:solidFill>
                  <a:srgbClr val="F8FAFC"/>
                </a:solidFill>
                <a:latin typeface="Poppins" pitchFamily="34" charset="0"/>
                <a:ea typeface="Poppins" pitchFamily="34" charset="-122"/>
                <a:cs typeface="Poppins" pitchFamily="34" charset="-120"/>
              </a:rPr>
              <a:t>Operating Systems at the Core,</a:t>
            </a:r>
            <a:endParaRPr lang="en-US" sz="3200" dirty="0"/>
          </a:p>
          <a:p>
            <a:pPr marL="0" indent="0">
              <a:lnSpc>
                <a:spcPct val="110000"/>
              </a:lnSpc>
              <a:buNone/>
            </a:pPr>
            <a:r>
              <a:rPr lang="en-US" sz="3200" b="1" dirty="0">
                <a:solidFill>
                  <a:srgbClr val="F8FAFC"/>
                </a:solidFill>
                <a:latin typeface="Poppins" pitchFamily="34" charset="0"/>
                <a:ea typeface="Poppins" pitchFamily="34" charset="-122"/>
                <a:cs typeface="Poppins" pitchFamily="34" charset="-120"/>
              </a:rPr>
              <a:t>AI as the Enhancement</a:t>
            </a:r>
            <a:endParaRPr lang="en-US" sz="3200" dirty="0"/>
          </a:p>
        </p:txBody>
      </p:sp>
      <p:sp>
        <p:nvSpPr>
          <p:cNvPr id="5" name="Text 3"/>
          <p:cNvSpPr/>
          <p:nvPr/>
        </p:nvSpPr>
        <p:spPr>
          <a:xfrm>
            <a:off x="822960" y="3200400"/>
            <a:ext cx="9875520" cy="18288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50" dirty="0">
                <a:solidFill>
                  <a:srgbClr val="F8FAFC"/>
                </a:solidFill>
                <a:latin typeface="Calibri" pitchFamily="34" charset="0"/>
                <a:ea typeface="Calibri" pitchFamily="34" charset="-122"/>
                <a:cs typeface="Calibri" pitchFamily="34" charset="-120"/>
              </a:rPr>
              <a:t>This project applies core OS concepts — scheduling, memory management, file systems, and process control — to build a real, working monitoring platform</a:t>
            </a:r>
            <a:endParaRPr lang="en-US" sz="1450" dirty="0"/>
          </a:p>
          <a:p>
            <a:pPr marL="228600" indent="-228600">
              <a:lnSpc>
                <a:spcPct val="115000"/>
              </a:lnSpc>
              <a:spcAft>
                <a:spcPts val="1200"/>
              </a:spcAft>
              <a:buSzPct val="100000"/>
              <a:buChar char="•"/>
            </a:pPr>
            <a:r>
              <a:rPr lang="en-US" sz="1450" dirty="0">
                <a:solidFill>
                  <a:srgbClr val="F8FAFC"/>
                </a:solidFill>
                <a:latin typeface="Calibri" pitchFamily="34" charset="0"/>
                <a:ea typeface="Calibri" pitchFamily="34" charset="-122"/>
                <a:cs typeface="Calibri" pitchFamily="34" charset="-120"/>
              </a:rPr>
              <a:t>AI adds prediction and anomaly detection as a focused, 30% enhancement layer on top of OS-generated data</a:t>
            </a:r>
            <a:endParaRPr lang="en-US" sz="1450" dirty="0"/>
          </a:p>
          <a:p>
            <a:pPr marL="228600" indent="-228600">
              <a:lnSpc>
                <a:spcPct val="115000"/>
              </a:lnSpc>
              <a:spcAft>
                <a:spcPts val="1200"/>
              </a:spcAft>
              <a:buSzPct val="100000"/>
              <a:buChar char="•"/>
            </a:pPr>
            <a:r>
              <a:rPr lang="en-US" sz="1450" dirty="0">
                <a:solidFill>
                  <a:srgbClr val="F8FAFC"/>
                </a:solidFill>
                <a:latin typeface="Calibri" pitchFamily="34" charset="0"/>
                <a:ea typeface="Calibri" pitchFamily="34" charset="-122"/>
                <a:cs typeface="Calibri" pitchFamily="34" charset="-120"/>
              </a:rPr>
              <a:t>The result is a proactive, historical, and actionable alternative to traditional OS monitoring tools</a:t>
            </a:r>
            <a:endParaRPr lang="en-US" sz="1450" dirty="0"/>
          </a:p>
        </p:txBody>
      </p:sp>
      <p:sp>
        <p:nvSpPr>
          <p:cNvPr id="6" name="Shape 4"/>
          <p:cNvSpPr/>
          <p:nvPr/>
        </p:nvSpPr>
        <p:spPr>
          <a:xfrm>
            <a:off x="822960" y="5257800"/>
            <a:ext cx="9875520" cy="914400"/>
          </a:xfrm>
          <a:prstGeom prst="roundRect">
            <a:avLst>
              <a:gd name="adj" fmla="val 10000"/>
            </a:avLst>
          </a:prstGeom>
          <a:solidFill>
            <a:srgbClr val="1E293B"/>
          </a:solidFill>
          <a:ln w="12700">
            <a:solidFill>
              <a:srgbClr val="334155"/>
            </a:solidFill>
            <a:prstDash val="solid"/>
          </a:ln>
        </p:spPr>
      </p:sp>
      <p:sp>
        <p:nvSpPr>
          <p:cNvPr id="7" name="Text 5"/>
          <p:cNvSpPr/>
          <p:nvPr/>
        </p:nvSpPr>
        <p:spPr>
          <a:xfrm>
            <a:off x="822960" y="5257800"/>
            <a:ext cx="9875520" cy="914400"/>
          </a:xfrm>
          <a:prstGeom prst="rect">
            <a:avLst/>
          </a:prstGeom>
          <a:noFill/>
          <a:ln/>
        </p:spPr>
        <p:txBody>
          <a:bodyPr wrap="square" lIns="0" tIns="0" rIns="0" bIns="0" rtlCol="0" anchor="ctr"/>
          <a:lstStyle/>
          <a:p>
            <a:pPr marL="0" indent="0" algn="ctr">
              <a:buNone/>
            </a:pPr>
            <a:r>
              <a:rPr lang="en-US" sz="2000" b="1" dirty="0">
                <a:solidFill>
                  <a:srgbClr val="38BDF8"/>
                </a:solidFill>
                <a:latin typeface="Poppins" pitchFamily="34" charset="0"/>
                <a:ea typeface="Poppins" pitchFamily="34" charset="-122"/>
                <a:cs typeface="Poppins" pitchFamily="34" charset="-120"/>
              </a:rPr>
              <a:t>Thank You  ·  Questions &amp; Discussion</a:t>
            </a:r>
            <a:endParaRPr lang="en-US" sz="2000" dirty="0"/>
          </a:p>
        </p:txBody>
      </p:sp>
      <p:sp>
        <p:nvSpPr>
          <p:cNvPr id="8" name="Text 6"/>
          <p:cNvSpPr/>
          <p:nvPr/>
        </p:nvSpPr>
        <p:spPr>
          <a:xfrm>
            <a:off x="548640" y="6528816"/>
            <a:ext cx="7315200" cy="274320"/>
          </a:xfrm>
          <a:prstGeom prst="rect">
            <a:avLst/>
          </a:prstGeom>
          <a:noFill/>
          <a:ln/>
        </p:spPr>
        <p:txBody>
          <a:bodyPr wrap="square"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AI-POWERED OS RESOURCE MONITORING SYSTEM</a:t>
            </a:r>
            <a:endParaRPr lang="en-US" sz="900" dirty="0"/>
          </a:p>
        </p:txBody>
      </p:sp>
      <p:sp>
        <p:nvSpPr>
          <p:cNvPr id="9" name="Text 7"/>
          <p:cNvSpPr/>
          <p:nvPr/>
        </p:nvSpPr>
        <p:spPr>
          <a:xfrm>
            <a:off x="10725912" y="6528816"/>
            <a:ext cx="9144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 / 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40</cp:revision>
  <dcterms:created xsi:type="dcterms:W3CDTF">2026-07-13T03:34:13Z</dcterms:created>
  <dcterms:modified xsi:type="dcterms:W3CDTF">2026-07-13T03:48:37Z</dcterms:modified>
</cp:coreProperties>
</file>